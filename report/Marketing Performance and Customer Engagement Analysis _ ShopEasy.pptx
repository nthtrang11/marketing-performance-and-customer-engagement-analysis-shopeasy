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handoutMasterIdLst>
    <p:handoutMasterId r:id="rId17"/>
  </p:handoutMasterIdLst>
  <p:sldIdLst>
    <p:sldId id="256" r:id="rId2"/>
    <p:sldId id="283" r:id="rId3"/>
    <p:sldId id="300" r:id="rId4"/>
    <p:sldId id="424" r:id="rId5"/>
    <p:sldId id="425" r:id="rId6"/>
    <p:sldId id="410" r:id="rId7"/>
    <p:sldId id="426" r:id="rId8"/>
    <p:sldId id="427" r:id="rId9"/>
    <p:sldId id="364" r:id="rId10"/>
    <p:sldId id="430" r:id="rId11"/>
    <p:sldId id="428" r:id="rId12"/>
    <p:sldId id="431" r:id="rId13"/>
    <p:sldId id="432" r:id="rId14"/>
    <p:sldId id="265" r:id="rId15"/>
  </p:sldIdLst>
  <p:sldSz cx="18288000" cy="10287000"/>
  <p:notesSz cx="6858000" cy="9144000"/>
  <p:embeddedFontLst>
    <p:embeddedFont>
      <p:font typeface="Barlow Condensed Heavy" panose="020B0604020202020204" charset="0"/>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B325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49" autoAdjust="0"/>
    <p:restoredTop sz="86438" autoAdjust="0"/>
  </p:normalViewPr>
  <p:slideViewPr>
    <p:cSldViewPr showGuides="1">
      <p:cViewPr varScale="1">
        <p:scale>
          <a:sx n="55" d="100"/>
          <a:sy n="55" d="100"/>
        </p:scale>
        <p:origin x="669" y="93"/>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t>2/2/2026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A3C363-AAFA-48B4-8AD2-EC9A3E954A44}"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76063B-6723-4843-9FB9-7D78C11AEBA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D676063B-6723-4843-9FB9-7D78C11AEBA6}"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D676063B-6723-4843-9FB9-7D78C11AEBA6}"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BCC2B-D4E1-AA03-684F-626D0B425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DC95B6-FD2D-C923-A9C8-BA948C38E5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B8D077-6125-4D04-BCE6-EE4A77E7ECD5}"/>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7612F5E7-7D79-6482-DD6A-61E5354E8421}"/>
              </a:ext>
            </a:extLst>
          </p:cNvPr>
          <p:cNvSpPr>
            <a:spLocks noGrp="1"/>
          </p:cNvSpPr>
          <p:nvPr>
            <p:ph type="sldNum" sz="quarter" idx="5"/>
          </p:nvPr>
        </p:nvSpPr>
        <p:spPr/>
        <p:txBody>
          <a:bodyPr/>
          <a:lstStyle/>
          <a:p>
            <a:fld id="{D676063B-6723-4843-9FB9-7D78C11AEBA6}" type="slidenum">
              <a:rPr lang="en-US" smtClean="0"/>
              <a:t>4</a:t>
            </a:fld>
            <a:endParaRPr lang="en-US"/>
          </a:p>
        </p:txBody>
      </p:sp>
    </p:spTree>
    <p:extLst>
      <p:ext uri="{BB962C8B-B14F-4D97-AF65-F5344CB8AC3E}">
        <p14:creationId xmlns:p14="http://schemas.microsoft.com/office/powerpoint/2010/main" val="890727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49FB3-7B9F-B75F-BAFE-D07DED5A9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C7716-2000-E33E-E98D-157903FEAE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3DE963-2E9C-813D-FFE8-C92D7B6E15AE}"/>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EEE805CD-DE16-5B2F-A613-14674D6EE433}"/>
              </a:ext>
            </a:extLst>
          </p:cNvPr>
          <p:cNvSpPr>
            <a:spLocks noGrp="1"/>
          </p:cNvSpPr>
          <p:nvPr>
            <p:ph type="sldNum" sz="quarter" idx="5"/>
          </p:nvPr>
        </p:nvSpPr>
        <p:spPr/>
        <p:txBody>
          <a:bodyPr/>
          <a:lstStyle/>
          <a:p>
            <a:fld id="{D676063B-6723-4843-9FB9-7D78C11AEBA6}" type="slidenum">
              <a:rPr lang="en-US" smtClean="0"/>
              <a:t>5</a:t>
            </a:fld>
            <a:endParaRPr lang="en-US"/>
          </a:p>
        </p:txBody>
      </p:sp>
    </p:spTree>
    <p:extLst>
      <p:ext uri="{BB962C8B-B14F-4D97-AF65-F5344CB8AC3E}">
        <p14:creationId xmlns:p14="http://schemas.microsoft.com/office/powerpoint/2010/main" val="3931322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D676063B-6723-4843-9FB9-7D78C11AEBA6}" type="slidenum">
              <a:rPr lang="en-US" smtClean="0"/>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BEF9B-DE95-FC05-365F-18EE9738E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D5C10-101A-DBD1-F1CF-417C02EC26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04BD0-DA74-B553-D991-37CD4E5E712B}"/>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38469F30-06C5-5A73-3624-D458F9D5AD5A}"/>
              </a:ext>
            </a:extLst>
          </p:cNvPr>
          <p:cNvSpPr>
            <a:spLocks noGrp="1"/>
          </p:cNvSpPr>
          <p:nvPr>
            <p:ph type="sldNum" sz="quarter" idx="5"/>
          </p:nvPr>
        </p:nvSpPr>
        <p:spPr/>
        <p:txBody>
          <a:bodyPr/>
          <a:lstStyle/>
          <a:p>
            <a:fld id="{D676063B-6723-4843-9FB9-7D78C11AEBA6}" type="slidenum">
              <a:rPr lang="en-US" smtClean="0"/>
              <a:t>7</a:t>
            </a:fld>
            <a:endParaRPr lang="en-US"/>
          </a:p>
        </p:txBody>
      </p:sp>
    </p:spTree>
    <p:extLst>
      <p:ext uri="{BB962C8B-B14F-4D97-AF65-F5344CB8AC3E}">
        <p14:creationId xmlns:p14="http://schemas.microsoft.com/office/powerpoint/2010/main" val="644426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AD1CC-F66E-3C53-3449-B73296522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914CB-5099-B125-C88F-709C5836EB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7F54AB-69AC-16AB-FD44-118C0B07A23E}"/>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5CEA0E2F-F101-6AE2-1782-2893D1B9701E}"/>
              </a:ext>
            </a:extLst>
          </p:cNvPr>
          <p:cNvSpPr>
            <a:spLocks noGrp="1"/>
          </p:cNvSpPr>
          <p:nvPr>
            <p:ph type="sldNum" sz="quarter" idx="5"/>
          </p:nvPr>
        </p:nvSpPr>
        <p:spPr/>
        <p:txBody>
          <a:bodyPr/>
          <a:lstStyle/>
          <a:p>
            <a:fld id="{D676063B-6723-4843-9FB9-7D78C11AEBA6}" type="slidenum">
              <a:rPr lang="en-US" smtClean="0"/>
              <a:t>8</a:t>
            </a:fld>
            <a:endParaRPr lang="en-US"/>
          </a:p>
        </p:txBody>
      </p:sp>
    </p:spTree>
    <p:extLst>
      <p:ext uri="{BB962C8B-B14F-4D97-AF65-F5344CB8AC3E}">
        <p14:creationId xmlns:p14="http://schemas.microsoft.com/office/powerpoint/2010/main" val="139012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D676063B-6723-4843-9FB9-7D78C11AEBA6}" type="slidenum">
              <a:rPr lang="en-US" smtClean="0"/>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37590-44F4-9BB7-98D4-9CE649636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D7DB95-BE62-2DB4-E31E-D6CF739ED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CAE605-F359-A4BD-891C-65F3225C27A3}"/>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10DB286F-334C-40ED-A2B3-7CC5E96CA2A1}"/>
              </a:ext>
            </a:extLst>
          </p:cNvPr>
          <p:cNvSpPr>
            <a:spLocks noGrp="1"/>
          </p:cNvSpPr>
          <p:nvPr>
            <p:ph type="sldNum" sz="quarter" idx="5"/>
          </p:nvPr>
        </p:nvSpPr>
        <p:spPr/>
        <p:txBody>
          <a:bodyPr/>
          <a:lstStyle/>
          <a:p>
            <a:fld id="{D676063B-6723-4843-9FB9-7D78C11AEBA6}" type="slidenum">
              <a:rPr lang="en-US" smtClean="0"/>
              <a:t>10</a:t>
            </a:fld>
            <a:endParaRPr lang="en-US"/>
          </a:p>
        </p:txBody>
      </p:sp>
    </p:spTree>
    <p:extLst>
      <p:ext uri="{BB962C8B-B14F-4D97-AF65-F5344CB8AC3E}">
        <p14:creationId xmlns:p14="http://schemas.microsoft.com/office/powerpoint/2010/main" val="27958197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E9729-3F20-5026-FC6E-A3FCDCAFE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B90FCC-4151-66A6-0240-5E13653A7B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8E6996-4A18-96C5-9D6E-FCBEE2CA7A8A}"/>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71878FF0-EE54-2488-581E-158F9444E563}"/>
              </a:ext>
            </a:extLst>
          </p:cNvPr>
          <p:cNvSpPr>
            <a:spLocks noGrp="1"/>
          </p:cNvSpPr>
          <p:nvPr>
            <p:ph type="sldNum" sz="quarter" idx="5"/>
          </p:nvPr>
        </p:nvSpPr>
        <p:spPr/>
        <p:txBody>
          <a:bodyPr/>
          <a:lstStyle/>
          <a:p>
            <a:fld id="{D676063B-6723-4843-9FB9-7D78C11AEBA6}" type="slidenum">
              <a:rPr lang="en-US" smtClean="0"/>
              <a:t>11</a:t>
            </a:fld>
            <a:endParaRPr lang="en-US"/>
          </a:p>
        </p:txBody>
      </p:sp>
    </p:spTree>
    <p:extLst>
      <p:ext uri="{BB962C8B-B14F-4D97-AF65-F5344CB8AC3E}">
        <p14:creationId xmlns:p14="http://schemas.microsoft.com/office/powerpoint/2010/main" val="4443652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4846D-8B47-34E2-EE03-FEB114929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6CAB6-882D-8D19-CF09-C0F5C52A6D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CBFF44-EB7C-EEF4-B754-C561B35D85DE}"/>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5A0861E3-FC70-1510-3B29-35DFA91E8B92}"/>
              </a:ext>
            </a:extLst>
          </p:cNvPr>
          <p:cNvSpPr>
            <a:spLocks noGrp="1"/>
          </p:cNvSpPr>
          <p:nvPr>
            <p:ph type="sldNum" sz="quarter" idx="5"/>
          </p:nvPr>
        </p:nvSpPr>
        <p:spPr/>
        <p:txBody>
          <a:bodyPr/>
          <a:lstStyle/>
          <a:p>
            <a:fld id="{D676063B-6723-4843-9FB9-7D78C11AEBA6}" type="slidenum">
              <a:rPr lang="en-US" smtClean="0"/>
              <a:t>12</a:t>
            </a:fld>
            <a:endParaRPr lang="en-US"/>
          </a:p>
        </p:txBody>
      </p:sp>
    </p:spTree>
    <p:extLst>
      <p:ext uri="{BB962C8B-B14F-4D97-AF65-F5344CB8AC3E}">
        <p14:creationId xmlns:p14="http://schemas.microsoft.com/office/powerpoint/2010/main" val="41884733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383B6-A97B-9FD5-F036-C8A79D6D35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644F5-3ADB-B9C0-7F9F-7B2883764D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616783-7F19-55F1-8332-C8956E44C444}"/>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8FEB12EC-C2FF-8D5A-0872-35138D857276}"/>
              </a:ext>
            </a:extLst>
          </p:cNvPr>
          <p:cNvSpPr>
            <a:spLocks noGrp="1"/>
          </p:cNvSpPr>
          <p:nvPr>
            <p:ph type="sldNum" sz="quarter" idx="5"/>
          </p:nvPr>
        </p:nvSpPr>
        <p:spPr/>
        <p:txBody>
          <a:bodyPr/>
          <a:lstStyle/>
          <a:p>
            <a:fld id="{D676063B-6723-4843-9FB9-7D78C11AEBA6}" type="slidenum">
              <a:rPr lang="en-US" smtClean="0"/>
              <a:t>13</a:t>
            </a:fld>
            <a:endParaRPr lang="en-US"/>
          </a:p>
        </p:txBody>
      </p:sp>
    </p:spTree>
    <p:extLst>
      <p:ext uri="{BB962C8B-B14F-4D97-AF65-F5344CB8AC3E}">
        <p14:creationId xmlns:p14="http://schemas.microsoft.com/office/powerpoint/2010/main" val="62964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D676063B-6723-4843-9FB9-7D78C11AEBA6}" type="slidenum">
              <a:rPr lang="en-US" smtClean="0"/>
              <a:t>14</a:t>
            </a:fld>
            <a:endParaRPr lang="en-US"/>
          </a:p>
        </p:txBody>
      </p:sp>
    </p:spTree>
    <p:extLst>
      <p:ext uri="{BB962C8B-B14F-4D97-AF65-F5344CB8AC3E}">
        <p14:creationId xmlns:p14="http://schemas.microsoft.com/office/powerpoint/2010/main" val="66051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7.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6.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7.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201711" y="8223192"/>
            <a:ext cx="3001633" cy="2941441"/>
          </a:xfrm>
          <a:custGeom>
            <a:avLst/>
            <a:gdLst/>
            <a:ahLst/>
            <a:cxnLst/>
            <a:rect l="l" t="t" r="r" b="b"/>
            <a:pathLst>
              <a:path w="2544433" h="2544433">
                <a:moveTo>
                  <a:pt x="0" y="0"/>
                </a:moveTo>
                <a:lnTo>
                  <a:pt x="2544432" y="0"/>
                </a:lnTo>
                <a:lnTo>
                  <a:pt x="2544432" y="2544433"/>
                </a:lnTo>
                <a:lnTo>
                  <a:pt x="0" y="25444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latin typeface="+mj-lt"/>
            </a:endParaRPr>
          </a:p>
        </p:txBody>
      </p:sp>
      <p:grpSp>
        <p:nvGrpSpPr>
          <p:cNvPr id="5" name="Group 5"/>
          <p:cNvGrpSpPr/>
          <p:nvPr/>
        </p:nvGrpSpPr>
        <p:grpSpPr>
          <a:xfrm>
            <a:off x="-1676400" y="3009900"/>
            <a:ext cx="2594369" cy="4588246"/>
            <a:chOff x="0" y="0"/>
            <a:chExt cx="683291" cy="1208427"/>
          </a:xfrm>
        </p:grpSpPr>
        <p:sp>
          <p:nvSpPr>
            <p:cNvPr id="6" name="Freeform 6"/>
            <p:cNvSpPr/>
            <p:nvPr/>
          </p:nvSpPr>
          <p:spPr>
            <a:xfrm>
              <a:off x="0" y="0"/>
              <a:ext cx="683291" cy="1208427"/>
            </a:xfrm>
            <a:custGeom>
              <a:avLst/>
              <a:gdLst/>
              <a:ahLst/>
              <a:cxnLst/>
              <a:rect l="l" t="t" r="r" b="b"/>
              <a:pathLst>
                <a:path w="683291" h="1208427">
                  <a:moveTo>
                    <a:pt x="152190" y="0"/>
                  </a:moveTo>
                  <a:lnTo>
                    <a:pt x="531100" y="0"/>
                  </a:lnTo>
                  <a:cubicBezTo>
                    <a:pt x="571464" y="0"/>
                    <a:pt x="610174" y="16034"/>
                    <a:pt x="638715" y="44576"/>
                  </a:cubicBezTo>
                  <a:cubicBezTo>
                    <a:pt x="667256" y="73117"/>
                    <a:pt x="683291" y="111827"/>
                    <a:pt x="683291" y="152190"/>
                  </a:cubicBezTo>
                  <a:lnTo>
                    <a:pt x="683291" y="1056237"/>
                  </a:lnTo>
                  <a:cubicBezTo>
                    <a:pt x="683291" y="1096600"/>
                    <a:pt x="667256" y="1135310"/>
                    <a:pt x="638715" y="1163852"/>
                  </a:cubicBezTo>
                  <a:cubicBezTo>
                    <a:pt x="610174" y="1192393"/>
                    <a:pt x="571464" y="1208427"/>
                    <a:pt x="531100" y="1208427"/>
                  </a:cubicBezTo>
                  <a:lnTo>
                    <a:pt x="152190" y="1208427"/>
                  </a:lnTo>
                  <a:cubicBezTo>
                    <a:pt x="111827" y="1208427"/>
                    <a:pt x="73117" y="1192393"/>
                    <a:pt x="44576" y="1163852"/>
                  </a:cubicBezTo>
                  <a:cubicBezTo>
                    <a:pt x="16034" y="1135310"/>
                    <a:pt x="0" y="1096600"/>
                    <a:pt x="0" y="1056237"/>
                  </a:cubicBezTo>
                  <a:lnTo>
                    <a:pt x="0" y="152190"/>
                  </a:lnTo>
                  <a:cubicBezTo>
                    <a:pt x="0" y="111827"/>
                    <a:pt x="16034" y="73117"/>
                    <a:pt x="44576" y="44576"/>
                  </a:cubicBezTo>
                  <a:cubicBezTo>
                    <a:pt x="73117" y="16034"/>
                    <a:pt x="111827" y="0"/>
                    <a:pt x="152190" y="0"/>
                  </a:cubicBezTo>
                  <a:close/>
                </a:path>
              </a:pathLst>
            </a:custGeom>
            <a:solidFill>
              <a:srgbClr val="5188CC"/>
            </a:solidFill>
          </p:spPr>
          <p:txBody>
            <a:bodyPr/>
            <a:lstStyle/>
            <a:p>
              <a:endParaRPr lang="en-US">
                <a:latin typeface="+mj-lt"/>
              </a:endParaRPr>
            </a:p>
          </p:txBody>
        </p:sp>
        <p:sp>
          <p:nvSpPr>
            <p:cNvPr id="7" name="TextBox 7"/>
            <p:cNvSpPr txBox="1"/>
            <p:nvPr/>
          </p:nvSpPr>
          <p:spPr>
            <a:xfrm>
              <a:off x="0" y="-47625"/>
              <a:ext cx="683291" cy="1256052"/>
            </a:xfrm>
            <a:prstGeom prst="rect">
              <a:avLst/>
            </a:prstGeom>
          </p:spPr>
          <p:txBody>
            <a:bodyPr lIns="50800" tIns="50800" rIns="50800" bIns="50800" rtlCol="0" anchor="ctr"/>
            <a:lstStyle/>
            <a:p>
              <a:pPr algn="ctr">
                <a:lnSpc>
                  <a:spcPts val="2800"/>
                </a:lnSpc>
              </a:pPr>
              <a:endParaRPr>
                <a:latin typeface="+mj-lt"/>
              </a:endParaRPr>
            </a:p>
          </p:txBody>
        </p:sp>
      </p:grpSp>
      <p:sp>
        <p:nvSpPr>
          <p:cNvPr id="13" name="Freeform 13"/>
          <p:cNvSpPr/>
          <p:nvPr/>
        </p:nvSpPr>
        <p:spPr>
          <a:xfrm>
            <a:off x="9677400" y="886015"/>
            <a:ext cx="1025128" cy="1025128"/>
          </a:xfrm>
          <a:custGeom>
            <a:avLst/>
            <a:gdLst/>
            <a:ahLst/>
            <a:cxnLst/>
            <a:rect l="l" t="t" r="r" b="b"/>
            <a:pathLst>
              <a:path w="1025128" h="1025128">
                <a:moveTo>
                  <a:pt x="0" y="0"/>
                </a:moveTo>
                <a:lnTo>
                  <a:pt x="1025127" y="0"/>
                </a:lnTo>
                <a:lnTo>
                  <a:pt x="1025127" y="1025127"/>
                </a:lnTo>
                <a:lnTo>
                  <a:pt x="0" y="102512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latin typeface="+mj-lt"/>
            </a:endParaRPr>
          </a:p>
        </p:txBody>
      </p:sp>
      <p:sp>
        <p:nvSpPr>
          <p:cNvPr id="15" name="TextBox 15"/>
          <p:cNvSpPr txBox="1"/>
          <p:nvPr/>
        </p:nvSpPr>
        <p:spPr>
          <a:xfrm>
            <a:off x="1524000" y="3737614"/>
            <a:ext cx="15089898" cy="2604111"/>
          </a:xfrm>
          <a:prstGeom prst="rect">
            <a:avLst/>
          </a:prstGeom>
        </p:spPr>
        <p:txBody>
          <a:bodyPr wrap="square" lIns="0" tIns="0" rIns="0" bIns="0" rtlCol="0" anchor="t">
            <a:spAutoFit/>
          </a:bodyPr>
          <a:lstStyle/>
          <a:p>
            <a:pPr algn="ctr">
              <a:lnSpc>
                <a:spcPct val="150000"/>
              </a:lnSpc>
            </a:pPr>
            <a:r>
              <a:rPr lang="vi-VN" sz="60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Barlow Condensed Heavy" panose="00000A06000000000000"/>
              </a:rPr>
              <a:t>MARKETING PERFORMANCE </a:t>
            </a:r>
          </a:p>
          <a:p>
            <a:pPr algn="ctr">
              <a:lnSpc>
                <a:spcPct val="150000"/>
              </a:lnSpc>
            </a:pPr>
            <a:r>
              <a:rPr lang="vi-VN" sz="60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Barlow Condensed Heavy" panose="00000A06000000000000"/>
              </a:rPr>
              <a:t>&amp; CUSTOMER ENGAGEMENT ANALYSIS</a:t>
            </a:r>
          </a:p>
        </p:txBody>
      </p:sp>
      <p:grpSp>
        <p:nvGrpSpPr>
          <p:cNvPr id="3" name="Group 2"/>
          <p:cNvGrpSpPr/>
          <p:nvPr/>
        </p:nvGrpSpPr>
        <p:grpSpPr>
          <a:xfrm>
            <a:off x="13144500" y="885758"/>
            <a:ext cx="4078578" cy="1039563"/>
            <a:chOff x="21159" y="1699"/>
            <a:chExt cx="5968" cy="1333"/>
          </a:xfrm>
        </p:grpSpPr>
        <p:grpSp>
          <p:nvGrpSpPr>
            <p:cNvPr id="8" name="Group 8"/>
            <p:cNvGrpSpPr/>
            <p:nvPr/>
          </p:nvGrpSpPr>
          <p:grpSpPr>
            <a:xfrm>
              <a:off x="21159" y="1699"/>
              <a:ext cx="5968" cy="1333"/>
              <a:chOff x="0" y="-47625"/>
              <a:chExt cx="998186" cy="222989"/>
            </a:xfrm>
          </p:grpSpPr>
          <p:sp>
            <p:nvSpPr>
              <p:cNvPr id="9" name="Freeform 9"/>
              <p:cNvSpPr/>
              <p:nvPr/>
            </p:nvSpPr>
            <p:spPr>
              <a:xfrm>
                <a:off x="22" y="35"/>
                <a:ext cx="998164" cy="175329"/>
              </a:xfrm>
              <a:custGeom>
                <a:avLst/>
                <a:gdLst/>
                <a:ahLst/>
                <a:cxnLst/>
                <a:rect l="l" t="t" r="r" b="b"/>
                <a:pathLst>
                  <a:path w="998164" h="175329">
                    <a:moveTo>
                      <a:pt x="87664" y="0"/>
                    </a:moveTo>
                    <a:lnTo>
                      <a:pt x="910500" y="0"/>
                    </a:lnTo>
                    <a:cubicBezTo>
                      <a:pt x="958915" y="0"/>
                      <a:pt x="998164" y="39249"/>
                      <a:pt x="998164" y="87664"/>
                    </a:cubicBezTo>
                    <a:lnTo>
                      <a:pt x="998164" y="87664"/>
                    </a:lnTo>
                    <a:cubicBezTo>
                      <a:pt x="998164" y="110914"/>
                      <a:pt x="988928" y="133212"/>
                      <a:pt x="972488" y="149652"/>
                    </a:cubicBezTo>
                    <a:cubicBezTo>
                      <a:pt x="956048" y="166093"/>
                      <a:pt x="933750" y="175329"/>
                      <a:pt x="910500"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3A577B"/>
              </a:solidFill>
            </p:spPr>
            <p:txBody>
              <a:bodyPr/>
              <a:lstStyle/>
              <a:p>
                <a:endParaRPr lang="en-US">
                  <a:latin typeface="+mj-lt"/>
                </a:endParaRPr>
              </a:p>
            </p:txBody>
          </p:sp>
          <p:sp>
            <p:nvSpPr>
              <p:cNvPr id="10" name="TextBox 10"/>
              <p:cNvSpPr txBox="1"/>
              <p:nvPr/>
            </p:nvSpPr>
            <p:spPr>
              <a:xfrm>
                <a:off x="0" y="-47625"/>
                <a:ext cx="998164" cy="222954"/>
              </a:xfrm>
              <a:prstGeom prst="rect">
                <a:avLst/>
              </a:prstGeom>
            </p:spPr>
            <p:txBody>
              <a:bodyPr lIns="50800" tIns="50800" rIns="50800" bIns="50800" rtlCol="0" anchor="ctr"/>
              <a:lstStyle/>
              <a:p>
                <a:pPr algn="ctr">
                  <a:lnSpc>
                    <a:spcPts val="2800"/>
                  </a:lnSpc>
                </a:pPr>
                <a:endParaRPr>
                  <a:latin typeface="+mj-lt"/>
                </a:endParaRPr>
              </a:p>
            </p:txBody>
          </p:sp>
        </p:grpSp>
        <p:sp>
          <p:nvSpPr>
            <p:cNvPr id="20" name="TextBox 17"/>
            <p:cNvSpPr txBox="1"/>
            <p:nvPr/>
          </p:nvSpPr>
          <p:spPr>
            <a:xfrm>
              <a:off x="21222" y="2078"/>
              <a:ext cx="5520" cy="811"/>
            </a:xfrm>
            <a:prstGeom prst="rect">
              <a:avLst/>
            </a:prstGeom>
          </p:spPr>
          <p:txBody>
            <a:bodyPr wrap="square" lIns="0" tIns="0" rIns="0" bIns="0" rtlCol="0" anchor="t">
              <a:spAutoFit/>
            </a:bodyPr>
            <a:lstStyle/>
            <a:p>
              <a:pPr algn="ctr">
                <a:lnSpc>
                  <a:spcPts val="5240"/>
                </a:lnSpc>
              </a:pPr>
              <a:r>
                <a:rPr lang="en-US" altLang="en-US" sz="4000" b="1" dirty="0">
                  <a:solidFill>
                    <a:schemeClr val="bg1"/>
                  </a:solidFill>
                  <a:latin typeface="+mj-lt"/>
                  <a:ea typeface="MS UI Gothic" panose="020B0600070205080204" charset="-128"/>
                  <a:cs typeface="Times New Roman" panose="02020603050405020304" pitchFamily="18" charset="0"/>
                  <a:sym typeface="MS UI Gothic" panose="020B0600070205080204" charset="-128"/>
                </a:rPr>
                <a:t>EASY SHOP</a:t>
              </a:r>
              <a:endParaRPr lang="vi-VN" altLang="en-US" sz="4000" b="1" dirty="0">
                <a:solidFill>
                  <a:schemeClr val="bg1"/>
                </a:solidFill>
                <a:latin typeface="+mj-lt"/>
                <a:ea typeface="MS UI Gothic" panose="020B0600070205080204" charset="-128"/>
                <a:cs typeface="Times New Roman" panose="02020603050405020304" pitchFamily="18" charset="0"/>
                <a:sym typeface="MS UI Gothic" panose="020B0600070205080204" charset="-128"/>
              </a:endParaRPr>
            </a:p>
          </p:txBody>
        </p:sp>
      </p:grpSp>
      <p:sp>
        <p:nvSpPr>
          <p:cNvPr id="17" name="Freeform 2"/>
          <p:cNvSpPr/>
          <p:nvPr/>
        </p:nvSpPr>
        <p:spPr>
          <a:xfrm>
            <a:off x="1219200" y="-1572731"/>
            <a:ext cx="3536911" cy="3394695"/>
          </a:xfrm>
          <a:custGeom>
            <a:avLst/>
            <a:gdLst/>
            <a:ahLst/>
            <a:cxnLst/>
            <a:rect l="l" t="t" r="r" b="b"/>
            <a:pathLst>
              <a:path w="2544433" h="2544433">
                <a:moveTo>
                  <a:pt x="0" y="0"/>
                </a:moveTo>
                <a:lnTo>
                  <a:pt x="2544432" y="0"/>
                </a:lnTo>
                <a:lnTo>
                  <a:pt x="2544432" y="2544433"/>
                </a:lnTo>
                <a:lnTo>
                  <a:pt x="0" y="25444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latin typeface="+mj-lt"/>
            </a:endParaRPr>
          </a:p>
        </p:txBody>
      </p:sp>
      <p:pic>
        <p:nvPicPr>
          <p:cNvPr id="21" name="Picture 20">
            <a:extLst>
              <a:ext uri="{FF2B5EF4-FFF2-40B4-BE49-F238E27FC236}">
                <a16:creationId xmlns:a16="http://schemas.microsoft.com/office/drawing/2014/main" id="{88550D20-1C51-5814-628C-5C4FFD39592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524150" y="6662034"/>
            <a:ext cx="3624966" cy="3624966"/>
          </a:xfrm>
          <a:prstGeom prst="rect">
            <a:avLst/>
          </a:prstGeom>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7"/>
          <p:cNvSpPr/>
          <p:nvPr/>
        </p:nvSpPr>
        <p:spPr>
          <a:xfrm>
            <a:off x="219255" y="2553259"/>
            <a:ext cx="6849745" cy="5133340"/>
          </a:xfrm>
          <a:custGeom>
            <a:avLst/>
            <a:gdLst/>
            <a:ahLst/>
            <a:cxnLst/>
            <a:rect l="l" t="t" r="r" b="b"/>
            <a:pathLst>
              <a:path w="11083636" h="8229600">
                <a:moveTo>
                  <a:pt x="0" y="0"/>
                </a:moveTo>
                <a:lnTo>
                  <a:pt x="11083637" y="0"/>
                </a:lnTo>
                <a:lnTo>
                  <a:pt x="11083637" y="8229600"/>
                </a:lnTo>
                <a:lnTo>
                  <a:pt x="0" y="8229600"/>
                </a:lnTo>
                <a:lnTo>
                  <a:pt x="0" y="0"/>
                </a:lnTo>
                <a:close/>
              </a:path>
            </a:pathLst>
          </a:custGeom>
          <a:blipFill>
            <a:blip r:embed="rId12"/>
            <a:stretch>
              <a:fillRect/>
            </a:stretch>
          </a:blipFill>
        </p:spPr>
        <p:txBody>
          <a:bodyPr/>
          <a:lstStyle/>
          <a:p>
            <a:endParaRPr lang="en-US">
              <a:latin typeface="+mj-lt"/>
            </a:endParaRPr>
          </a:p>
        </p:txBody>
      </p:sp>
      <p:sp>
        <p:nvSpPr>
          <p:cNvPr id="4" name="Arc 3"/>
          <p:cNvSpPr/>
          <p:nvPr/>
        </p:nvSpPr>
        <p:spPr>
          <a:xfrm>
            <a:off x="-1235737" y="-274320"/>
            <a:ext cx="9483090" cy="10835640"/>
          </a:xfrm>
          <a:prstGeom prst="arc">
            <a:avLst>
              <a:gd name="adj1" fmla="val 16200000"/>
              <a:gd name="adj2" fmla="val 5908181"/>
            </a:avLst>
          </a:prstGeom>
          <a:ln w="57150"/>
          <a:effectLst>
            <a:outerShdw blurRad="50800" dist="38100" algn="l" rotWithShape="0">
              <a:schemeClr val="bg1">
                <a:lumMod val="75000"/>
                <a:alpha val="40000"/>
              </a:schemeClr>
            </a:outerShdw>
          </a:effectLst>
        </p:spPr>
        <p:style>
          <a:lnRef idx="2">
            <a:schemeClr val="accent1"/>
          </a:lnRef>
          <a:fillRef idx="0">
            <a:srgbClr val="FFFFFF"/>
          </a:fillRef>
          <a:effectRef idx="0">
            <a:srgbClr val="FFFFFF"/>
          </a:effectRef>
          <a:fontRef idx="minor">
            <a:schemeClr val="tx1"/>
          </a:fontRef>
        </p:style>
        <p:txBody>
          <a:bodyPr rtlCol="0" anchor="ctr"/>
          <a:lstStyle/>
          <a:p>
            <a:pPr algn="ctr"/>
            <a:endParaRPr lang="en-GB" altLang="en-US">
              <a:latin typeface="+mj-lt"/>
              <a:cs typeface="Times New Roman" panose="02020603050405020304" pitchFamily="18" charset="0"/>
            </a:endParaRPr>
          </a:p>
        </p:txBody>
      </p:sp>
      <p:grpSp>
        <p:nvGrpSpPr>
          <p:cNvPr id="9" name="Group 8">
            <a:extLst>
              <a:ext uri="{FF2B5EF4-FFF2-40B4-BE49-F238E27FC236}">
                <a16:creationId xmlns:a16="http://schemas.microsoft.com/office/drawing/2014/main" id="{225137E3-3731-552A-428B-F4086D1C8D93}"/>
              </a:ext>
            </a:extLst>
          </p:cNvPr>
          <p:cNvGrpSpPr/>
          <p:nvPr/>
        </p:nvGrpSpPr>
        <p:grpSpPr>
          <a:xfrm>
            <a:off x="6970701" y="1932137"/>
            <a:ext cx="11745617" cy="1040524"/>
            <a:chOff x="7315200" y="2628900"/>
            <a:chExt cx="11745617" cy="1040524"/>
          </a:xfrm>
        </p:grpSpPr>
        <p:sp>
          <p:nvSpPr>
            <p:cNvPr id="11" name="Oval 10"/>
            <p:cNvSpPr/>
            <p:nvPr>
              <p:custDataLst>
                <p:tags r:id="rId9"/>
              </p:custDataLst>
            </p:nvPr>
          </p:nvSpPr>
          <p:spPr>
            <a:xfrm>
              <a:off x="7315200" y="2628900"/>
              <a:ext cx="1492250" cy="1040524"/>
            </a:xfrm>
            <a:prstGeom prst="ellipse">
              <a:avLst/>
            </a:prstGeom>
            <a:solidFill>
              <a:schemeClr val="accent5">
                <a:lumMod val="40000"/>
                <a:lumOff val="60000"/>
              </a:schemeClr>
            </a:solidFill>
            <a:ln w="6350">
              <a:solidFill>
                <a:schemeClr val="accent5">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800" b="1" dirty="0">
                  <a:solidFill>
                    <a:srgbClr val="0E2F5F"/>
                  </a:solidFill>
                  <a:latin typeface="+mj-lt"/>
                  <a:ea typeface="MS UI Gothic" panose="020B0600070205080204" charset="-128"/>
                  <a:cs typeface="Times New Roman" panose="02020603050405020304" pitchFamily="18" charset="0"/>
                  <a:sym typeface="MS UI Gothic" panose="020B0600070205080204" charset="-128"/>
                </a:rPr>
                <a:t>1</a:t>
              </a:r>
              <a:endParaRPr lang="vi-VN" altLang="en-US" sz="2800" b="1" dirty="0">
                <a:solidFill>
                  <a:srgbClr val="0E2F5F"/>
                </a:solidFill>
                <a:latin typeface="+mj-lt"/>
                <a:ea typeface="MS UI Gothic" panose="020B0600070205080204" charset="-128"/>
                <a:cs typeface="Times New Roman" panose="02020603050405020304" pitchFamily="18" charset="0"/>
                <a:sym typeface="MS UI Gothic" panose="020B0600070205080204" charset="-128"/>
              </a:endParaRPr>
            </a:p>
          </p:txBody>
        </p:sp>
        <p:sp>
          <p:nvSpPr>
            <p:cNvPr id="15" name="Text Box 135"/>
            <p:cNvSpPr txBox="1"/>
            <p:nvPr>
              <p:custDataLst>
                <p:tags r:id="rId10"/>
              </p:custDataLst>
            </p:nvPr>
          </p:nvSpPr>
          <p:spPr>
            <a:xfrm>
              <a:off x="9026206" y="2744106"/>
              <a:ext cx="10034611" cy="748923"/>
            </a:xfrm>
            <a:prstGeom prst="rect">
              <a:avLst/>
            </a:prstGeom>
            <a:noFill/>
          </p:spPr>
          <p:txBody>
            <a:bodyPr wrap="square" rtlCol="0" anchor="t">
              <a:spAutoFit/>
            </a:bodyPr>
            <a:lstStyle/>
            <a:p>
              <a:pPr>
                <a:lnSpc>
                  <a:spcPts val="5715"/>
                </a:lnSpc>
              </a:pPr>
              <a:r>
                <a:rPr lang="vi-VN" altLang="en-US" sz="32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OVERVIEW</a:t>
              </a:r>
            </a:p>
          </p:txBody>
        </p:sp>
      </p:grpSp>
      <p:grpSp>
        <p:nvGrpSpPr>
          <p:cNvPr id="13" name="Group 12">
            <a:extLst>
              <a:ext uri="{FF2B5EF4-FFF2-40B4-BE49-F238E27FC236}">
                <a16:creationId xmlns:a16="http://schemas.microsoft.com/office/drawing/2014/main" id="{F5B4F69F-BF1A-53B5-1620-B3EEFA751DFD}"/>
              </a:ext>
            </a:extLst>
          </p:cNvPr>
          <p:cNvGrpSpPr/>
          <p:nvPr/>
        </p:nvGrpSpPr>
        <p:grpSpPr>
          <a:xfrm>
            <a:off x="7315200" y="5401125"/>
            <a:ext cx="9735350" cy="990523"/>
            <a:chOff x="7714450" y="4533900"/>
            <a:chExt cx="9735350" cy="990523"/>
          </a:xfrm>
        </p:grpSpPr>
        <p:sp>
          <p:nvSpPr>
            <p:cNvPr id="10" name="Oval 9"/>
            <p:cNvSpPr/>
            <p:nvPr>
              <p:custDataLst>
                <p:tags r:id="rId7"/>
              </p:custDataLst>
            </p:nvPr>
          </p:nvSpPr>
          <p:spPr>
            <a:xfrm>
              <a:off x="7714450" y="4533900"/>
              <a:ext cx="1492250" cy="990523"/>
            </a:xfrm>
            <a:prstGeom prst="ellipse">
              <a:avLst/>
            </a:prstGeom>
            <a:solidFill>
              <a:schemeClr val="accent5">
                <a:lumMod val="40000"/>
                <a:lumOff val="60000"/>
              </a:schemeClr>
            </a:solidFill>
            <a:ln w="6350">
              <a:solidFill>
                <a:schemeClr val="accent5">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vi-VN" altLang="en-US" sz="2800" b="1" dirty="0">
                  <a:solidFill>
                    <a:srgbClr val="0E2F5F"/>
                  </a:solidFill>
                  <a:latin typeface="+mj-lt"/>
                  <a:ea typeface="MS UI Gothic" panose="020B0600070205080204" charset="-128"/>
                  <a:cs typeface="Times New Roman" panose="02020603050405020304" pitchFamily="18" charset="0"/>
                  <a:sym typeface="MS UI Gothic" panose="020B0600070205080204" charset="-128"/>
                </a:rPr>
                <a:t>3</a:t>
              </a:r>
            </a:p>
          </p:txBody>
        </p:sp>
        <p:sp>
          <p:nvSpPr>
            <p:cNvPr id="16" name="Text Box 136"/>
            <p:cNvSpPr txBox="1"/>
            <p:nvPr>
              <p:custDataLst>
                <p:tags r:id="rId8"/>
              </p:custDataLst>
            </p:nvPr>
          </p:nvSpPr>
          <p:spPr>
            <a:xfrm>
              <a:off x="9383229" y="4593476"/>
              <a:ext cx="8066571" cy="748923"/>
            </a:xfrm>
            <a:prstGeom prst="rect">
              <a:avLst/>
            </a:prstGeom>
            <a:noFill/>
          </p:spPr>
          <p:txBody>
            <a:bodyPr wrap="square" rtlCol="0" anchor="t">
              <a:spAutoFit/>
            </a:bodyPr>
            <a:lstStyle/>
            <a:p>
              <a:pPr>
                <a:lnSpc>
                  <a:spcPts val="5715"/>
                </a:lnSpc>
              </a:pPr>
              <a:r>
                <a:rPr lang="vi-VN" altLang="en-US" sz="32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REDUCED CUSTOMER ENGAGEMENT</a:t>
              </a:r>
            </a:p>
          </p:txBody>
        </p:sp>
      </p:grpSp>
      <p:sp>
        <p:nvSpPr>
          <p:cNvPr id="23" name="Freeform 11"/>
          <p:cNvSpPr/>
          <p:nvPr/>
        </p:nvSpPr>
        <p:spPr>
          <a:xfrm>
            <a:off x="12344400" y="487680"/>
            <a:ext cx="998220" cy="998220"/>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ltLang="en-US">
              <a:latin typeface="+mj-lt"/>
              <a:cs typeface="Times New Roman" panose="02020603050405020304" pitchFamily="18" charset="0"/>
            </a:endParaRPr>
          </a:p>
        </p:txBody>
      </p:sp>
      <p:grpSp>
        <p:nvGrpSpPr>
          <p:cNvPr id="6" name="Group 5"/>
          <p:cNvGrpSpPr/>
          <p:nvPr/>
        </p:nvGrpSpPr>
        <p:grpSpPr>
          <a:xfrm>
            <a:off x="13792200" y="376377"/>
            <a:ext cx="5002530" cy="1109523"/>
            <a:chOff x="21159" y="1984"/>
            <a:chExt cx="5968" cy="1048"/>
          </a:xfrm>
        </p:grpSpPr>
        <p:grpSp>
          <p:nvGrpSpPr>
            <p:cNvPr id="7" name="Group 8"/>
            <p:cNvGrpSpPr/>
            <p:nvPr/>
          </p:nvGrpSpPr>
          <p:grpSpPr>
            <a:xfrm>
              <a:off x="21159" y="1984"/>
              <a:ext cx="5968" cy="1048"/>
              <a:chOff x="0" y="0"/>
              <a:chExt cx="998164" cy="175329"/>
            </a:xfrm>
          </p:grpSpPr>
          <p:sp>
            <p:nvSpPr>
              <p:cNvPr id="14" name="Freeform 9"/>
              <p:cNvSpPr/>
              <p:nvPr/>
            </p:nvSpPr>
            <p:spPr>
              <a:xfrm>
                <a:off x="0" y="0"/>
                <a:ext cx="998164" cy="175329"/>
              </a:xfrm>
              <a:custGeom>
                <a:avLst/>
                <a:gdLst/>
                <a:ahLst/>
                <a:cxnLst/>
                <a:rect l="l" t="t" r="r" b="b"/>
                <a:pathLst>
                  <a:path w="998164" h="175329">
                    <a:moveTo>
                      <a:pt x="87664" y="0"/>
                    </a:moveTo>
                    <a:lnTo>
                      <a:pt x="910500" y="0"/>
                    </a:lnTo>
                    <a:cubicBezTo>
                      <a:pt x="958915" y="0"/>
                      <a:pt x="998164" y="39249"/>
                      <a:pt x="998164" y="87664"/>
                    </a:cubicBezTo>
                    <a:lnTo>
                      <a:pt x="998164" y="87664"/>
                    </a:lnTo>
                    <a:cubicBezTo>
                      <a:pt x="998164" y="110914"/>
                      <a:pt x="988928" y="133212"/>
                      <a:pt x="972488" y="149652"/>
                    </a:cubicBezTo>
                    <a:cubicBezTo>
                      <a:pt x="956048" y="166093"/>
                      <a:pt x="933750" y="175329"/>
                      <a:pt x="910500"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3A577B"/>
              </a:solidFill>
            </p:spPr>
            <p:txBody>
              <a:bodyPr/>
              <a:lstStyle/>
              <a:p>
                <a:endParaRPr lang="en-US">
                  <a:latin typeface="+mj-lt"/>
                </a:endParaRPr>
              </a:p>
            </p:txBody>
          </p:sp>
          <p:sp>
            <p:nvSpPr>
              <p:cNvPr id="18" name="TextBox 10"/>
              <p:cNvSpPr txBox="1"/>
              <p:nvPr/>
            </p:nvSpPr>
            <p:spPr>
              <a:xfrm>
                <a:off x="0" y="-47625"/>
                <a:ext cx="998164" cy="222954"/>
              </a:xfrm>
              <a:prstGeom prst="rect">
                <a:avLst/>
              </a:prstGeom>
            </p:spPr>
            <p:txBody>
              <a:bodyPr lIns="50800" tIns="50800" rIns="50800" bIns="50800" rtlCol="0" anchor="ctr"/>
              <a:lstStyle/>
              <a:p>
                <a:pPr algn="ctr">
                  <a:lnSpc>
                    <a:spcPts val="2800"/>
                  </a:lnSpc>
                </a:pPr>
                <a:endParaRPr>
                  <a:latin typeface="+mj-lt"/>
                  <a:cs typeface="Times New Roman" panose="02020603050405020304" pitchFamily="18" charset="0"/>
                </a:endParaRPr>
              </a:p>
            </p:txBody>
          </p:sp>
        </p:grpSp>
        <p:sp>
          <p:nvSpPr>
            <p:cNvPr id="12" name="TextBox 17"/>
            <p:cNvSpPr txBox="1"/>
            <p:nvPr/>
          </p:nvSpPr>
          <p:spPr>
            <a:xfrm>
              <a:off x="21159" y="2220"/>
              <a:ext cx="5520" cy="600"/>
            </a:xfrm>
            <a:prstGeom prst="rect">
              <a:avLst/>
            </a:prstGeom>
          </p:spPr>
          <p:txBody>
            <a:bodyPr wrap="square" lIns="0" tIns="0" rIns="0" bIns="0" rtlCol="0" anchor="t">
              <a:spAutoFit/>
            </a:bodyPr>
            <a:lstStyle/>
            <a:p>
              <a:pPr algn="ctr">
                <a:lnSpc>
                  <a:spcPts val="5240"/>
                </a:lnSpc>
              </a:pPr>
              <a:r>
                <a:rPr lang="en-US" sz="4000" b="1" dirty="0">
                  <a:solidFill>
                    <a:schemeClr val="bg1"/>
                  </a:solidFill>
                  <a:latin typeface="+mj-lt"/>
                  <a:ea typeface="MS UI Gothic" panose="020B0600070205080204" charset="-128"/>
                  <a:cs typeface="Times New Roman" panose="02020603050405020304" pitchFamily="18" charset="0"/>
                  <a:sym typeface="MS UI Gothic" panose="020B0600070205080204" charset="-128"/>
                </a:rPr>
                <a:t>SUMMARY</a:t>
              </a:r>
            </a:p>
          </p:txBody>
        </p:sp>
      </p:grpSp>
      <p:grpSp>
        <p:nvGrpSpPr>
          <p:cNvPr id="17" name="Group 16">
            <a:extLst>
              <a:ext uri="{FF2B5EF4-FFF2-40B4-BE49-F238E27FC236}">
                <a16:creationId xmlns:a16="http://schemas.microsoft.com/office/drawing/2014/main" id="{E2F00B14-A58A-FC85-E170-7644C8D3CF3D}"/>
              </a:ext>
            </a:extLst>
          </p:cNvPr>
          <p:cNvGrpSpPr/>
          <p:nvPr/>
        </p:nvGrpSpPr>
        <p:grpSpPr>
          <a:xfrm>
            <a:off x="6822883" y="7097620"/>
            <a:ext cx="8792237" cy="972185"/>
            <a:chOff x="7362163" y="6438900"/>
            <a:chExt cx="8792237" cy="972185"/>
          </a:xfrm>
        </p:grpSpPr>
        <p:sp>
          <p:nvSpPr>
            <p:cNvPr id="19" name="Oval 18">
              <a:extLst>
                <a:ext uri="{FF2B5EF4-FFF2-40B4-BE49-F238E27FC236}">
                  <a16:creationId xmlns:a16="http://schemas.microsoft.com/office/drawing/2014/main" id="{8F6CDCE6-021C-A831-06C7-760B9AD36935}"/>
                </a:ext>
              </a:extLst>
            </p:cNvPr>
            <p:cNvSpPr/>
            <p:nvPr>
              <p:custDataLst>
                <p:tags r:id="rId5"/>
              </p:custDataLst>
            </p:nvPr>
          </p:nvSpPr>
          <p:spPr>
            <a:xfrm>
              <a:off x="7362163" y="6438900"/>
              <a:ext cx="1492250" cy="972185"/>
            </a:xfrm>
            <a:prstGeom prst="ellipse">
              <a:avLst/>
            </a:prstGeom>
            <a:solidFill>
              <a:schemeClr val="accent5">
                <a:lumMod val="40000"/>
                <a:lumOff val="60000"/>
              </a:schemeClr>
            </a:solidFill>
            <a:ln w="6350">
              <a:solidFill>
                <a:schemeClr val="accent5">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vi-VN" altLang="en-US" sz="2800" b="1" dirty="0">
                  <a:solidFill>
                    <a:srgbClr val="0E2F5F"/>
                  </a:solidFill>
                  <a:latin typeface="+mj-lt"/>
                  <a:ea typeface="MS UI Gothic" panose="020B0600070205080204" charset="-128"/>
                  <a:cs typeface="Times New Roman" panose="02020603050405020304" pitchFamily="18" charset="0"/>
                  <a:sym typeface="MS UI Gothic" panose="020B0600070205080204" charset="-128"/>
                </a:rPr>
                <a:t>4</a:t>
              </a:r>
            </a:p>
          </p:txBody>
        </p:sp>
        <p:sp>
          <p:nvSpPr>
            <p:cNvPr id="20" name="Text Box 137">
              <a:extLst>
                <a:ext uri="{FF2B5EF4-FFF2-40B4-BE49-F238E27FC236}">
                  <a16:creationId xmlns:a16="http://schemas.microsoft.com/office/drawing/2014/main" id="{03D2C6E9-81CE-10DC-D25E-C14AAC6DB21E}"/>
                </a:ext>
              </a:extLst>
            </p:cNvPr>
            <p:cNvSpPr txBox="1"/>
            <p:nvPr>
              <p:custDataLst>
                <p:tags r:id="rId6"/>
              </p:custDataLst>
            </p:nvPr>
          </p:nvSpPr>
          <p:spPr>
            <a:xfrm>
              <a:off x="9065867" y="6553835"/>
              <a:ext cx="7088533" cy="748923"/>
            </a:xfrm>
            <a:prstGeom prst="rect">
              <a:avLst/>
            </a:prstGeom>
            <a:noFill/>
          </p:spPr>
          <p:txBody>
            <a:bodyPr wrap="square" rtlCol="0" anchor="t">
              <a:spAutoFit/>
            </a:bodyPr>
            <a:lstStyle/>
            <a:p>
              <a:pPr>
                <a:lnSpc>
                  <a:spcPts val="5715"/>
                </a:lnSpc>
              </a:pPr>
              <a:r>
                <a:rPr lang="vi-VN" altLang="en-US" sz="32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CUSTOMER FEEDBACK ANALYSIS</a:t>
              </a:r>
            </a:p>
          </p:txBody>
        </p:sp>
      </p:grpSp>
      <p:grpSp>
        <p:nvGrpSpPr>
          <p:cNvPr id="2" name="Group 1">
            <a:extLst>
              <a:ext uri="{FF2B5EF4-FFF2-40B4-BE49-F238E27FC236}">
                <a16:creationId xmlns:a16="http://schemas.microsoft.com/office/drawing/2014/main" id="{E58CE8AC-4BEF-B23A-3781-30E25DD2DE7E}"/>
              </a:ext>
            </a:extLst>
          </p:cNvPr>
          <p:cNvGrpSpPr/>
          <p:nvPr/>
        </p:nvGrpSpPr>
        <p:grpSpPr>
          <a:xfrm>
            <a:off x="6096000" y="8620245"/>
            <a:ext cx="11745617" cy="1040524"/>
            <a:chOff x="7315200" y="2628900"/>
            <a:chExt cx="11745617" cy="1040524"/>
          </a:xfrm>
        </p:grpSpPr>
        <p:sp>
          <p:nvSpPr>
            <p:cNvPr id="5" name="Oval 4">
              <a:extLst>
                <a:ext uri="{FF2B5EF4-FFF2-40B4-BE49-F238E27FC236}">
                  <a16:creationId xmlns:a16="http://schemas.microsoft.com/office/drawing/2014/main" id="{73C08136-60A7-DD73-A70E-46E37C1C6E51}"/>
                </a:ext>
              </a:extLst>
            </p:cNvPr>
            <p:cNvSpPr/>
            <p:nvPr>
              <p:custDataLst>
                <p:tags r:id="rId3"/>
              </p:custDataLst>
            </p:nvPr>
          </p:nvSpPr>
          <p:spPr>
            <a:xfrm>
              <a:off x="7315200" y="2628900"/>
              <a:ext cx="1492250" cy="1040524"/>
            </a:xfrm>
            <a:prstGeom prst="ellipse">
              <a:avLst/>
            </a:prstGeom>
            <a:solidFill>
              <a:schemeClr val="accent5">
                <a:lumMod val="40000"/>
                <a:lumOff val="60000"/>
              </a:schemeClr>
            </a:solidFill>
            <a:ln w="6350">
              <a:solidFill>
                <a:schemeClr val="accent5">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800" b="1" dirty="0">
                  <a:solidFill>
                    <a:srgbClr val="0E2F5F"/>
                  </a:solidFill>
                  <a:latin typeface="+mj-lt"/>
                  <a:ea typeface="MS UI Gothic" panose="020B0600070205080204" charset="-128"/>
                  <a:cs typeface="Times New Roman" panose="02020603050405020304" pitchFamily="18" charset="0"/>
                  <a:sym typeface="MS UI Gothic" panose="020B0600070205080204" charset="-128"/>
                </a:rPr>
                <a:t>5</a:t>
              </a:r>
              <a:endParaRPr lang="vi-VN" altLang="en-US" sz="2800" b="1" dirty="0">
                <a:solidFill>
                  <a:srgbClr val="0E2F5F"/>
                </a:solidFill>
                <a:latin typeface="+mj-lt"/>
                <a:ea typeface="MS UI Gothic" panose="020B0600070205080204" charset="-128"/>
                <a:cs typeface="Times New Roman" panose="02020603050405020304" pitchFamily="18" charset="0"/>
                <a:sym typeface="MS UI Gothic" panose="020B0600070205080204" charset="-128"/>
              </a:endParaRPr>
            </a:p>
          </p:txBody>
        </p:sp>
        <p:sp>
          <p:nvSpPr>
            <p:cNvPr id="8" name="Text Box 135">
              <a:extLst>
                <a:ext uri="{FF2B5EF4-FFF2-40B4-BE49-F238E27FC236}">
                  <a16:creationId xmlns:a16="http://schemas.microsoft.com/office/drawing/2014/main" id="{7F8B23EE-B1E6-592B-C4B6-0F2CD13616F6}"/>
                </a:ext>
              </a:extLst>
            </p:cNvPr>
            <p:cNvSpPr txBox="1"/>
            <p:nvPr>
              <p:custDataLst>
                <p:tags r:id="rId4"/>
              </p:custDataLst>
            </p:nvPr>
          </p:nvSpPr>
          <p:spPr>
            <a:xfrm>
              <a:off x="9026206" y="2744106"/>
              <a:ext cx="10034611" cy="748923"/>
            </a:xfrm>
            <a:prstGeom prst="rect">
              <a:avLst/>
            </a:prstGeom>
            <a:noFill/>
          </p:spPr>
          <p:txBody>
            <a:bodyPr wrap="square" rtlCol="0" anchor="t">
              <a:spAutoFit/>
            </a:bodyPr>
            <a:lstStyle/>
            <a:p>
              <a:pPr>
                <a:lnSpc>
                  <a:spcPts val="5715"/>
                </a:lnSpc>
              </a:pPr>
              <a:r>
                <a:rPr lang="vi-VN" altLang="en-US" sz="32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GOALS &amp; ACTIONS</a:t>
              </a:r>
            </a:p>
          </p:txBody>
        </p:sp>
      </p:grpSp>
      <p:grpSp>
        <p:nvGrpSpPr>
          <p:cNvPr id="21" name="Group 20">
            <a:extLst>
              <a:ext uri="{FF2B5EF4-FFF2-40B4-BE49-F238E27FC236}">
                <a16:creationId xmlns:a16="http://schemas.microsoft.com/office/drawing/2014/main" id="{D8BD0D40-6192-F6A4-872E-9B5EEE754230}"/>
              </a:ext>
            </a:extLst>
          </p:cNvPr>
          <p:cNvGrpSpPr/>
          <p:nvPr/>
        </p:nvGrpSpPr>
        <p:grpSpPr>
          <a:xfrm>
            <a:off x="7315200" y="3681357"/>
            <a:ext cx="11745617" cy="1040524"/>
            <a:chOff x="7315200" y="2628900"/>
            <a:chExt cx="11745617" cy="1040524"/>
          </a:xfrm>
        </p:grpSpPr>
        <p:sp>
          <p:nvSpPr>
            <p:cNvPr id="22" name="Oval 21">
              <a:extLst>
                <a:ext uri="{FF2B5EF4-FFF2-40B4-BE49-F238E27FC236}">
                  <a16:creationId xmlns:a16="http://schemas.microsoft.com/office/drawing/2014/main" id="{332741A6-FA5F-8D42-60AB-F1B55C661F78}"/>
                </a:ext>
              </a:extLst>
            </p:cNvPr>
            <p:cNvSpPr/>
            <p:nvPr>
              <p:custDataLst>
                <p:tags r:id="rId1"/>
              </p:custDataLst>
            </p:nvPr>
          </p:nvSpPr>
          <p:spPr>
            <a:xfrm>
              <a:off x="7315200" y="2628900"/>
              <a:ext cx="1492250" cy="1040524"/>
            </a:xfrm>
            <a:prstGeom prst="ellipse">
              <a:avLst/>
            </a:prstGeom>
            <a:solidFill>
              <a:schemeClr val="accent5">
                <a:lumMod val="40000"/>
                <a:lumOff val="60000"/>
              </a:schemeClr>
            </a:solidFill>
            <a:ln w="6350">
              <a:solidFill>
                <a:schemeClr val="accent5">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sz="2800" b="1" dirty="0">
                  <a:solidFill>
                    <a:srgbClr val="0E2F5F"/>
                  </a:solidFill>
                  <a:latin typeface="+mj-lt"/>
                  <a:ea typeface="MS UI Gothic" panose="020B0600070205080204" charset="-128"/>
                  <a:cs typeface="Times New Roman" panose="02020603050405020304" pitchFamily="18" charset="0"/>
                  <a:sym typeface="MS UI Gothic" panose="020B0600070205080204" charset="-128"/>
                </a:rPr>
                <a:t>2</a:t>
              </a:r>
              <a:endParaRPr lang="vi-VN" altLang="en-US" sz="2800" b="1" dirty="0">
                <a:solidFill>
                  <a:srgbClr val="0E2F5F"/>
                </a:solidFill>
                <a:latin typeface="+mj-lt"/>
                <a:ea typeface="MS UI Gothic" panose="020B0600070205080204" charset="-128"/>
                <a:cs typeface="Times New Roman" panose="02020603050405020304" pitchFamily="18" charset="0"/>
                <a:sym typeface="MS UI Gothic" panose="020B0600070205080204" charset="-128"/>
              </a:endParaRPr>
            </a:p>
          </p:txBody>
        </p:sp>
        <p:sp>
          <p:nvSpPr>
            <p:cNvPr id="24" name="Text Box 135">
              <a:extLst>
                <a:ext uri="{FF2B5EF4-FFF2-40B4-BE49-F238E27FC236}">
                  <a16:creationId xmlns:a16="http://schemas.microsoft.com/office/drawing/2014/main" id="{1DA846EC-0BD9-825A-AAA6-22C980B96A61}"/>
                </a:ext>
              </a:extLst>
            </p:cNvPr>
            <p:cNvSpPr txBox="1"/>
            <p:nvPr>
              <p:custDataLst>
                <p:tags r:id="rId2"/>
              </p:custDataLst>
            </p:nvPr>
          </p:nvSpPr>
          <p:spPr>
            <a:xfrm>
              <a:off x="9026206" y="2744106"/>
              <a:ext cx="10034611" cy="748923"/>
            </a:xfrm>
            <a:prstGeom prst="rect">
              <a:avLst/>
            </a:prstGeom>
            <a:noFill/>
          </p:spPr>
          <p:txBody>
            <a:bodyPr wrap="square" rtlCol="0" anchor="t">
              <a:spAutoFit/>
            </a:bodyPr>
            <a:lstStyle/>
            <a:p>
              <a:pPr>
                <a:lnSpc>
                  <a:spcPts val="5715"/>
                </a:lnSpc>
              </a:pPr>
              <a:r>
                <a:rPr lang="vi-VN" altLang="en-US" sz="32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DECREASED CONVERSION RATES</a:t>
              </a:r>
            </a:p>
          </p:txBody>
        </p:sp>
      </p:gr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977449-9DCA-739A-DB02-99BD82D86A79}"/>
              </a:ext>
            </a:extLst>
          </p:cNvPr>
          <p:cNvPicPr>
            <a:picLocks noChangeAspect="1"/>
          </p:cNvPicPr>
          <p:nvPr/>
        </p:nvPicPr>
        <p:blipFill>
          <a:blip r:embed="rId3"/>
          <a:stretch>
            <a:fillRect/>
          </a:stretch>
        </p:blipFill>
        <p:spPr>
          <a:xfrm>
            <a:off x="7126183" y="2171700"/>
            <a:ext cx="10953767" cy="6400800"/>
          </a:xfrm>
          <a:prstGeom prst="rect">
            <a:avLst/>
          </a:prstGeom>
        </p:spPr>
      </p:pic>
      <p:sp>
        <p:nvSpPr>
          <p:cNvPr id="10" name="TextBox 19"/>
          <p:cNvSpPr txBox="1"/>
          <p:nvPr/>
        </p:nvSpPr>
        <p:spPr>
          <a:xfrm>
            <a:off x="1028700" y="904875"/>
            <a:ext cx="10192385" cy="700576"/>
          </a:xfrm>
          <a:prstGeom prst="rect">
            <a:avLst/>
          </a:prstGeom>
        </p:spPr>
        <p:txBody>
          <a:bodyPr wrap="square" lIns="0" tIns="0" rIns="0" bIns="0" rtlCol="0" anchor="t">
            <a:spAutoFit/>
          </a:bodyPr>
          <a:lstStyle/>
          <a:p>
            <a:pPr>
              <a:lnSpc>
                <a:spcPts val="5715"/>
              </a:lnSpc>
            </a:pPr>
            <a:r>
              <a:rPr lang="vi-VN" altLang="en-US" sz="45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1. OVERVIEW</a:t>
            </a:r>
          </a:p>
        </p:txBody>
      </p:sp>
      <p:sp>
        <p:nvSpPr>
          <p:cNvPr id="18" name="Text Box 17"/>
          <p:cNvSpPr txBox="1"/>
          <p:nvPr/>
        </p:nvSpPr>
        <p:spPr>
          <a:xfrm>
            <a:off x="1028700" y="2781300"/>
            <a:ext cx="5829299" cy="3511089"/>
          </a:xfrm>
          <a:prstGeom prst="rect">
            <a:avLst/>
          </a:prstGeom>
          <a:noFill/>
        </p:spPr>
        <p:txBody>
          <a:bodyPr wrap="square" rtlCol="0">
            <a:spAutoFit/>
          </a:bodyPr>
          <a:lstStyle/>
          <a:p>
            <a:pPr>
              <a:lnSpc>
                <a:spcPct val="160000"/>
              </a:lnSpc>
            </a:pPr>
            <a:r>
              <a:rPr lang="en-US" sz="3000" b="1" dirty="0"/>
              <a:t>Decreased Conversion Rates: </a:t>
            </a:r>
          </a:p>
          <a:p>
            <a:pPr>
              <a:lnSpc>
                <a:spcPct val="160000"/>
              </a:lnSpc>
            </a:pPr>
            <a:r>
              <a:rPr lang="en-US" sz="2800" dirty="0"/>
              <a:t>The conversion rate demonstrated a strong rebound in December, reaching 10.3%, despite a notable dip to 5.1% in October.</a:t>
            </a:r>
          </a:p>
        </p:txBody>
      </p:sp>
      <p:sp>
        <p:nvSpPr>
          <p:cNvPr id="5" name="Oval 4">
            <a:extLst>
              <a:ext uri="{FF2B5EF4-FFF2-40B4-BE49-F238E27FC236}">
                <a16:creationId xmlns:a16="http://schemas.microsoft.com/office/drawing/2014/main" id="{E18FB1C2-B299-2944-DAA5-E7224ACC0392}"/>
              </a:ext>
            </a:extLst>
          </p:cNvPr>
          <p:cNvSpPr/>
          <p:nvPr/>
        </p:nvSpPr>
        <p:spPr>
          <a:xfrm>
            <a:off x="12268200" y="2476500"/>
            <a:ext cx="1828800" cy="1219200"/>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A1C31-7BD2-DB0D-680E-4839712D2AF7}"/>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D06AD3A-569B-7020-3412-9CAC0CE90724}"/>
              </a:ext>
            </a:extLst>
          </p:cNvPr>
          <p:cNvPicPr>
            <a:picLocks noChangeAspect="1"/>
          </p:cNvPicPr>
          <p:nvPr/>
        </p:nvPicPr>
        <p:blipFill>
          <a:blip r:embed="rId3"/>
          <a:stretch>
            <a:fillRect/>
          </a:stretch>
        </p:blipFill>
        <p:spPr>
          <a:xfrm>
            <a:off x="7126183" y="2171700"/>
            <a:ext cx="10953767" cy="6400800"/>
          </a:xfrm>
          <a:prstGeom prst="rect">
            <a:avLst/>
          </a:prstGeom>
        </p:spPr>
      </p:pic>
      <p:sp>
        <p:nvSpPr>
          <p:cNvPr id="10" name="TextBox 19">
            <a:extLst>
              <a:ext uri="{FF2B5EF4-FFF2-40B4-BE49-F238E27FC236}">
                <a16:creationId xmlns:a16="http://schemas.microsoft.com/office/drawing/2014/main" id="{4C514B82-1512-C97E-A5E4-4D1873F2B672}"/>
              </a:ext>
            </a:extLst>
          </p:cNvPr>
          <p:cNvSpPr txBox="1"/>
          <p:nvPr/>
        </p:nvSpPr>
        <p:spPr>
          <a:xfrm>
            <a:off x="1028700" y="904875"/>
            <a:ext cx="10192385" cy="700576"/>
          </a:xfrm>
          <a:prstGeom prst="rect">
            <a:avLst/>
          </a:prstGeom>
        </p:spPr>
        <p:txBody>
          <a:bodyPr wrap="square" lIns="0" tIns="0" rIns="0" bIns="0" rtlCol="0" anchor="t">
            <a:spAutoFit/>
          </a:bodyPr>
          <a:lstStyle/>
          <a:p>
            <a:pPr>
              <a:lnSpc>
                <a:spcPts val="5715"/>
              </a:lnSpc>
            </a:pPr>
            <a:r>
              <a:rPr lang="vi-VN" altLang="en-US" sz="45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1. OVERVIEW</a:t>
            </a:r>
          </a:p>
        </p:txBody>
      </p:sp>
      <p:sp>
        <p:nvSpPr>
          <p:cNvPr id="18" name="Text Box 17">
            <a:extLst>
              <a:ext uri="{FF2B5EF4-FFF2-40B4-BE49-F238E27FC236}">
                <a16:creationId xmlns:a16="http://schemas.microsoft.com/office/drawing/2014/main" id="{C09F9986-0928-604D-A3B1-2AD77EE14C21}"/>
              </a:ext>
            </a:extLst>
          </p:cNvPr>
          <p:cNvSpPr txBox="1"/>
          <p:nvPr/>
        </p:nvSpPr>
        <p:spPr>
          <a:xfrm>
            <a:off x="1028700" y="2309176"/>
            <a:ext cx="5714999" cy="6268767"/>
          </a:xfrm>
          <a:prstGeom prst="rect">
            <a:avLst/>
          </a:prstGeom>
          <a:noFill/>
        </p:spPr>
        <p:txBody>
          <a:bodyPr wrap="square" rtlCol="0">
            <a:spAutoFit/>
          </a:bodyPr>
          <a:lstStyle/>
          <a:p>
            <a:pPr>
              <a:lnSpc>
                <a:spcPct val="160000"/>
              </a:lnSpc>
            </a:pPr>
            <a:r>
              <a:rPr lang="en-US" sz="3000" b="1" dirty="0"/>
              <a:t>Reduced Customer Engagement:</a:t>
            </a:r>
          </a:p>
          <a:p>
            <a:pPr marL="457200" indent="-457200">
              <a:lnSpc>
                <a:spcPct val="160000"/>
              </a:lnSpc>
              <a:buFontTx/>
              <a:buChar char="-"/>
            </a:pPr>
            <a:r>
              <a:rPr lang="en-US" sz="2800" dirty="0"/>
              <a:t>There is a decline in overall social media engagement, with views dropping throughout the year.</a:t>
            </a:r>
          </a:p>
          <a:p>
            <a:pPr marL="457200" indent="-457200">
              <a:lnSpc>
                <a:spcPct val="160000"/>
              </a:lnSpc>
              <a:buFontTx/>
              <a:buChar char="-"/>
            </a:pPr>
            <a:r>
              <a:rPr lang="en-US" sz="2800" dirty="0"/>
              <a:t>While clicks and likes are low compared to views, the click-through rate stands at 15.45%, meaning that engaged users are still interacting effectively.</a:t>
            </a:r>
          </a:p>
        </p:txBody>
      </p:sp>
      <p:cxnSp>
        <p:nvCxnSpPr>
          <p:cNvPr id="3" name="Straight Arrow Connector 2">
            <a:extLst>
              <a:ext uri="{FF2B5EF4-FFF2-40B4-BE49-F238E27FC236}">
                <a16:creationId xmlns:a16="http://schemas.microsoft.com/office/drawing/2014/main" id="{5921D90C-7464-34CC-1D6F-6B0C67532E04}"/>
              </a:ext>
            </a:extLst>
          </p:cNvPr>
          <p:cNvCxnSpPr>
            <a:cxnSpLocks/>
          </p:cNvCxnSpPr>
          <p:nvPr/>
        </p:nvCxnSpPr>
        <p:spPr>
          <a:xfrm>
            <a:off x="15925800" y="5143500"/>
            <a:ext cx="1828800" cy="381000"/>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61749524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8C31C-B1FB-B0E9-997C-59D43BF7648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6238677-3C5C-6D27-BEA1-608334B92CAC}"/>
              </a:ext>
            </a:extLst>
          </p:cNvPr>
          <p:cNvPicPr>
            <a:picLocks noChangeAspect="1"/>
          </p:cNvPicPr>
          <p:nvPr/>
        </p:nvPicPr>
        <p:blipFill>
          <a:blip r:embed="rId3"/>
          <a:stretch>
            <a:fillRect/>
          </a:stretch>
        </p:blipFill>
        <p:spPr>
          <a:xfrm>
            <a:off x="7126183" y="2171700"/>
            <a:ext cx="10953767" cy="6400800"/>
          </a:xfrm>
          <a:prstGeom prst="rect">
            <a:avLst/>
          </a:prstGeom>
        </p:spPr>
      </p:pic>
      <p:sp>
        <p:nvSpPr>
          <p:cNvPr id="10" name="TextBox 19">
            <a:extLst>
              <a:ext uri="{FF2B5EF4-FFF2-40B4-BE49-F238E27FC236}">
                <a16:creationId xmlns:a16="http://schemas.microsoft.com/office/drawing/2014/main" id="{53F9460C-FBF6-2B14-AC38-6A5F1B628B27}"/>
              </a:ext>
            </a:extLst>
          </p:cNvPr>
          <p:cNvSpPr txBox="1"/>
          <p:nvPr/>
        </p:nvSpPr>
        <p:spPr>
          <a:xfrm>
            <a:off x="1028700" y="904875"/>
            <a:ext cx="10192385" cy="700576"/>
          </a:xfrm>
          <a:prstGeom prst="rect">
            <a:avLst/>
          </a:prstGeom>
        </p:spPr>
        <p:txBody>
          <a:bodyPr wrap="square" lIns="0" tIns="0" rIns="0" bIns="0" rtlCol="0" anchor="t">
            <a:spAutoFit/>
          </a:bodyPr>
          <a:lstStyle/>
          <a:p>
            <a:pPr>
              <a:lnSpc>
                <a:spcPts val="5715"/>
              </a:lnSpc>
            </a:pPr>
            <a:r>
              <a:rPr lang="vi-VN" altLang="en-US" sz="45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1. OVERVIEW</a:t>
            </a:r>
          </a:p>
        </p:txBody>
      </p:sp>
      <p:sp>
        <p:nvSpPr>
          <p:cNvPr id="18" name="Text Box 17">
            <a:extLst>
              <a:ext uri="{FF2B5EF4-FFF2-40B4-BE49-F238E27FC236}">
                <a16:creationId xmlns:a16="http://schemas.microsoft.com/office/drawing/2014/main" id="{C5730CB8-7A76-02B7-1284-D1240D893C4D}"/>
              </a:ext>
            </a:extLst>
          </p:cNvPr>
          <p:cNvSpPr txBox="1"/>
          <p:nvPr/>
        </p:nvSpPr>
        <p:spPr>
          <a:xfrm>
            <a:off x="914400" y="2171700"/>
            <a:ext cx="6211783" cy="6268767"/>
          </a:xfrm>
          <a:prstGeom prst="rect">
            <a:avLst/>
          </a:prstGeom>
          <a:noFill/>
        </p:spPr>
        <p:txBody>
          <a:bodyPr wrap="square" rtlCol="0">
            <a:spAutoFit/>
          </a:bodyPr>
          <a:lstStyle/>
          <a:p>
            <a:pPr>
              <a:lnSpc>
                <a:spcPct val="160000"/>
              </a:lnSpc>
            </a:pPr>
            <a:r>
              <a:rPr lang="en-US" sz="3000" b="1" dirty="0"/>
              <a:t>Customer Feedback Analysis:</a:t>
            </a:r>
          </a:p>
          <a:p>
            <a:pPr marL="457200" indent="-457200">
              <a:lnSpc>
                <a:spcPct val="160000"/>
              </a:lnSpc>
              <a:buFontTx/>
              <a:buChar char="-"/>
            </a:pPr>
            <a:r>
              <a:rPr lang="en-US" sz="2800" dirty="0"/>
              <a:t>Customer ratings have remained consistent, averaging around 3.7 throughout the year.</a:t>
            </a:r>
          </a:p>
          <a:p>
            <a:pPr marL="457200" indent="-457200">
              <a:lnSpc>
                <a:spcPct val="160000"/>
              </a:lnSpc>
              <a:buFontTx/>
              <a:buChar char="-"/>
            </a:pPr>
            <a:r>
              <a:rPr lang="en-US" sz="2800" dirty="0"/>
              <a:t>Although stable, the average rating is below the target of 4.0, suggesting a need for focused improvements in customer satisfaction, for products below 3.5.</a:t>
            </a:r>
            <a:endParaRPr lang="nb-NO" sz="2800" dirty="0"/>
          </a:p>
        </p:txBody>
      </p:sp>
      <p:sp>
        <p:nvSpPr>
          <p:cNvPr id="3" name="Rectangle 2">
            <a:extLst>
              <a:ext uri="{FF2B5EF4-FFF2-40B4-BE49-F238E27FC236}">
                <a16:creationId xmlns:a16="http://schemas.microsoft.com/office/drawing/2014/main" id="{F410BDA2-DAE0-70F9-4E9B-24042CB797DA}"/>
              </a:ext>
            </a:extLst>
          </p:cNvPr>
          <p:cNvSpPr/>
          <p:nvPr/>
        </p:nvSpPr>
        <p:spPr>
          <a:xfrm>
            <a:off x="11887200" y="6972300"/>
            <a:ext cx="2094641" cy="12192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088703856"/>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6A6029-D99C-394B-F8DC-CC0137349975}"/>
              </a:ext>
            </a:extLst>
          </p:cNvPr>
          <p:cNvPicPr>
            <a:picLocks noChangeAspect="1"/>
          </p:cNvPicPr>
          <p:nvPr/>
        </p:nvPicPr>
        <p:blipFill>
          <a:blip r:embed="rId3"/>
          <a:stretch>
            <a:fillRect/>
          </a:stretch>
        </p:blipFill>
        <p:spPr>
          <a:xfrm>
            <a:off x="7620000" y="2552700"/>
            <a:ext cx="10433210" cy="6096000"/>
          </a:xfrm>
          <a:prstGeom prst="rect">
            <a:avLst/>
          </a:prstGeom>
        </p:spPr>
      </p:pic>
      <p:sp>
        <p:nvSpPr>
          <p:cNvPr id="10" name="TextBox 19"/>
          <p:cNvSpPr txBox="1"/>
          <p:nvPr/>
        </p:nvSpPr>
        <p:spPr>
          <a:xfrm>
            <a:off x="1028700" y="904875"/>
            <a:ext cx="10192385" cy="700576"/>
          </a:xfrm>
          <a:prstGeom prst="rect">
            <a:avLst/>
          </a:prstGeom>
        </p:spPr>
        <p:txBody>
          <a:bodyPr wrap="square" lIns="0" tIns="0" rIns="0" bIns="0" rtlCol="0" anchor="t">
            <a:spAutoFit/>
          </a:bodyPr>
          <a:lstStyle/>
          <a:p>
            <a:pPr>
              <a:lnSpc>
                <a:spcPts val="5715"/>
              </a:lnSpc>
            </a:pPr>
            <a:r>
              <a:rPr lang="vi-VN" altLang="en-US" sz="45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2. DECREASED CONVERSION RATES</a:t>
            </a:r>
          </a:p>
        </p:txBody>
      </p:sp>
      <p:sp>
        <p:nvSpPr>
          <p:cNvPr id="2" name="Text Box 17">
            <a:extLst>
              <a:ext uri="{FF2B5EF4-FFF2-40B4-BE49-F238E27FC236}">
                <a16:creationId xmlns:a16="http://schemas.microsoft.com/office/drawing/2014/main" id="{652EC200-8A47-F5D2-0F06-4F6BAB2AAB4E}"/>
              </a:ext>
            </a:extLst>
          </p:cNvPr>
          <p:cNvSpPr txBox="1"/>
          <p:nvPr/>
        </p:nvSpPr>
        <p:spPr>
          <a:xfrm>
            <a:off x="914400" y="2019300"/>
            <a:ext cx="6400800" cy="6958187"/>
          </a:xfrm>
          <a:prstGeom prst="rect">
            <a:avLst/>
          </a:prstGeom>
          <a:noFill/>
        </p:spPr>
        <p:txBody>
          <a:bodyPr wrap="square" rtlCol="0">
            <a:spAutoFit/>
          </a:bodyPr>
          <a:lstStyle/>
          <a:p>
            <a:pPr>
              <a:lnSpc>
                <a:spcPct val="160000"/>
              </a:lnSpc>
            </a:pPr>
            <a:r>
              <a:rPr lang="en-US" sz="3000" b="1" dirty="0"/>
              <a:t>General Conversion Trend:</a:t>
            </a:r>
          </a:p>
          <a:p>
            <a:pPr marL="457200" indent="-457200">
              <a:lnSpc>
                <a:spcPct val="160000"/>
              </a:lnSpc>
              <a:buFontTx/>
              <a:buChar char="-"/>
            </a:pPr>
            <a:r>
              <a:rPr lang="en-US" sz="2800" dirty="0"/>
              <a:t>Conversion rates fluctuated throughout the year.</a:t>
            </a:r>
          </a:p>
          <a:p>
            <a:pPr marL="457200" indent="-457200">
              <a:lnSpc>
                <a:spcPct val="160000"/>
              </a:lnSpc>
              <a:buFontTx/>
              <a:buChar char="-"/>
            </a:pPr>
            <a:r>
              <a:rPr lang="en-US" sz="2800" dirty="0"/>
              <a:t>Higher conversion performance was observed in February and July.</a:t>
            </a:r>
          </a:p>
          <a:p>
            <a:pPr marL="457200" indent="-457200">
              <a:lnSpc>
                <a:spcPct val="160000"/>
              </a:lnSpc>
              <a:buFontTx/>
              <a:buChar char="-"/>
            </a:pPr>
            <a:r>
              <a:rPr lang="en-US" sz="2800" dirty="0"/>
              <a:t>Some products showed clear seasonal peaks.</a:t>
            </a:r>
          </a:p>
          <a:p>
            <a:pPr marL="457200" indent="-457200">
              <a:lnSpc>
                <a:spcPct val="160000"/>
              </a:lnSpc>
              <a:buFontTx/>
              <a:buChar char="-"/>
            </a:pPr>
            <a:r>
              <a:rPr lang="en-US" sz="2800" dirty="0"/>
              <a:t>Lower-performing months present opportunities for improvement through targeted marketing actions.</a:t>
            </a:r>
          </a:p>
        </p:txBody>
      </p:sp>
      <p:sp>
        <p:nvSpPr>
          <p:cNvPr id="7" name="Rectangle 6">
            <a:extLst>
              <a:ext uri="{FF2B5EF4-FFF2-40B4-BE49-F238E27FC236}">
                <a16:creationId xmlns:a16="http://schemas.microsoft.com/office/drawing/2014/main" id="{51A2F645-A6E7-E2AB-874D-5B25B6E5E022}"/>
              </a:ext>
            </a:extLst>
          </p:cNvPr>
          <p:cNvSpPr/>
          <p:nvPr/>
        </p:nvSpPr>
        <p:spPr>
          <a:xfrm>
            <a:off x="9220200" y="2518954"/>
            <a:ext cx="762000" cy="6282146"/>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Rectangle 7">
            <a:extLst>
              <a:ext uri="{FF2B5EF4-FFF2-40B4-BE49-F238E27FC236}">
                <a16:creationId xmlns:a16="http://schemas.microsoft.com/office/drawing/2014/main" id="{8A78FEE7-D9C3-2D48-7787-5C8FAB4BA832}"/>
              </a:ext>
            </a:extLst>
          </p:cNvPr>
          <p:cNvSpPr/>
          <p:nvPr/>
        </p:nvSpPr>
        <p:spPr>
          <a:xfrm>
            <a:off x="12039600" y="2518954"/>
            <a:ext cx="685800" cy="628214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CA787-E5BD-2943-8B0C-D80F355BBBD8}"/>
            </a:ext>
          </a:extLst>
        </p:cNvPr>
        <p:cNvGrpSpPr/>
        <p:nvPr/>
      </p:nvGrpSpPr>
      <p:grpSpPr>
        <a:xfrm>
          <a:off x="0" y="0"/>
          <a:ext cx="0" cy="0"/>
          <a:chOff x="0" y="0"/>
          <a:chExt cx="0" cy="0"/>
        </a:xfrm>
      </p:grpSpPr>
      <p:sp>
        <p:nvSpPr>
          <p:cNvPr id="10" name="TextBox 19">
            <a:extLst>
              <a:ext uri="{FF2B5EF4-FFF2-40B4-BE49-F238E27FC236}">
                <a16:creationId xmlns:a16="http://schemas.microsoft.com/office/drawing/2014/main" id="{43572C99-9038-4BE7-9429-B05C1551F6D2}"/>
              </a:ext>
            </a:extLst>
          </p:cNvPr>
          <p:cNvSpPr txBox="1"/>
          <p:nvPr/>
        </p:nvSpPr>
        <p:spPr>
          <a:xfrm>
            <a:off x="1028700" y="904875"/>
            <a:ext cx="10192385" cy="700576"/>
          </a:xfrm>
          <a:prstGeom prst="rect">
            <a:avLst/>
          </a:prstGeom>
        </p:spPr>
        <p:txBody>
          <a:bodyPr wrap="square" lIns="0" tIns="0" rIns="0" bIns="0" rtlCol="0" anchor="t">
            <a:spAutoFit/>
          </a:bodyPr>
          <a:lstStyle/>
          <a:p>
            <a:pPr>
              <a:lnSpc>
                <a:spcPts val="5715"/>
              </a:lnSpc>
            </a:pPr>
            <a:r>
              <a:rPr lang="vi-VN" altLang="en-US" sz="45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2. DECREASED CONVERSION RATES</a:t>
            </a:r>
          </a:p>
        </p:txBody>
      </p:sp>
      <p:sp>
        <p:nvSpPr>
          <p:cNvPr id="2" name="Text Box 17">
            <a:extLst>
              <a:ext uri="{FF2B5EF4-FFF2-40B4-BE49-F238E27FC236}">
                <a16:creationId xmlns:a16="http://schemas.microsoft.com/office/drawing/2014/main" id="{227FC58B-E9F9-0470-95C8-D79DCACA1A2F}"/>
              </a:ext>
            </a:extLst>
          </p:cNvPr>
          <p:cNvSpPr txBox="1"/>
          <p:nvPr/>
        </p:nvSpPr>
        <p:spPr>
          <a:xfrm>
            <a:off x="1028700" y="2400300"/>
            <a:ext cx="6172200" cy="5579348"/>
          </a:xfrm>
          <a:prstGeom prst="rect">
            <a:avLst/>
          </a:prstGeom>
          <a:noFill/>
        </p:spPr>
        <p:txBody>
          <a:bodyPr wrap="square" rtlCol="0">
            <a:spAutoFit/>
          </a:bodyPr>
          <a:lstStyle/>
          <a:p>
            <a:pPr>
              <a:lnSpc>
                <a:spcPct val="160000"/>
              </a:lnSpc>
            </a:pPr>
            <a:r>
              <a:rPr lang="en-US" sz="3000" b="1" dirty="0"/>
              <a:t>Lowest Conversion Month:</a:t>
            </a:r>
          </a:p>
          <a:p>
            <a:pPr>
              <a:lnSpc>
                <a:spcPct val="160000"/>
              </a:lnSpc>
            </a:pPr>
            <a:r>
              <a:rPr lang="en-US" sz="2800" dirty="0"/>
              <a:t>May experienced the lowest overall conversion rate at 4.5%, with no products standing out significantly in terms of conversion. This indicates a potential need to revisit marketing strategies or promotions during this period to boost performance.</a:t>
            </a:r>
          </a:p>
        </p:txBody>
      </p:sp>
      <p:pic>
        <p:nvPicPr>
          <p:cNvPr id="9" name="Picture 8">
            <a:extLst>
              <a:ext uri="{FF2B5EF4-FFF2-40B4-BE49-F238E27FC236}">
                <a16:creationId xmlns:a16="http://schemas.microsoft.com/office/drawing/2014/main" id="{0CC68478-8ABC-2F21-F368-F7863A72A645}"/>
              </a:ext>
            </a:extLst>
          </p:cNvPr>
          <p:cNvPicPr>
            <a:picLocks noChangeAspect="1"/>
          </p:cNvPicPr>
          <p:nvPr/>
        </p:nvPicPr>
        <p:blipFill>
          <a:blip r:embed="rId3"/>
          <a:stretch>
            <a:fillRect/>
          </a:stretch>
        </p:blipFill>
        <p:spPr>
          <a:xfrm>
            <a:off x="7620000" y="2552700"/>
            <a:ext cx="10433210" cy="6096000"/>
          </a:xfrm>
          <a:prstGeom prst="rect">
            <a:avLst/>
          </a:prstGeom>
        </p:spPr>
      </p:pic>
      <p:sp>
        <p:nvSpPr>
          <p:cNvPr id="11" name="Rectangle 10">
            <a:extLst>
              <a:ext uri="{FF2B5EF4-FFF2-40B4-BE49-F238E27FC236}">
                <a16:creationId xmlns:a16="http://schemas.microsoft.com/office/drawing/2014/main" id="{08A3412E-6551-A210-D69C-679DCC1DAE41}"/>
              </a:ext>
            </a:extLst>
          </p:cNvPr>
          <p:cNvSpPr/>
          <p:nvPr/>
        </p:nvSpPr>
        <p:spPr>
          <a:xfrm>
            <a:off x="9220200" y="2518954"/>
            <a:ext cx="762000" cy="6282146"/>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Rectangle 11">
            <a:extLst>
              <a:ext uri="{FF2B5EF4-FFF2-40B4-BE49-F238E27FC236}">
                <a16:creationId xmlns:a16="http://schemas.microsoft.com/office/drawing/2014/main" id="{41ED5885-D8AF-366B-91C1-920138F652D7}"/>
              </a:ext>
            </a:extLst>
          </p:cNvPr>
          <p:cNvSpPr/>
          <p:nvPr/>
        </p:nvSpPr>
        <p:spPr>
          <a:xfrm>
            <a:off x="12039600" y="2518954"/>
            <a:ext cx="685800" cy="628214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3962721641"/>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20915-5AA2-5724-6AD2-164F2190347A}"/>
            </a:ext>
          </a:extLst>
        </p:cNvPr>
        <p:cNvGrpSpPr/>
        <p:nvPr/>
      </p:nvGrpSpPr>
      <p:grpSpPr>
        <a:xfrm>
          <a:off x="0" y="0"/>
          <a:ext cx="0" cy="0"/>
          <a:chOff x="0" y="0"/>
          <a:chExt cx="0" cy="0"/>
        </a:xfrm>
      </p:grpSpPr>
      <p:sp>
        <p:nvSpPr>
          <p:cNvPr id="10" name="TextBox 19">
            <a:extLst>
              <a:ext uri="{FF2B5EF4-FFF2-40B4-BE49-F238E27FC236}">
                <a16:creationId xmlns:a16="http://schemas.microsoft.com/office/drawing/2014/main" id="{04102F21-3059-79A9-81A6-645E8EA4908F}"/>
              </a:ext>
            </a:extLst>
          </p:cNvPr>
          <p:cNvSpPr txBox="1"/>
          <p:nvPr/>
        </p:nvSpPr>
        <p:spPr>
          <a:xfrm>
            <a:off x="1028700" y="904875"/>
            <a:ext cx="10192385" cy="700576"/>
          </a:xfrm>
          <a:prstGeom prst="rect">
            <a:avLst/>
          </a:prstGeom>
        </p:spPr>
        <p:txBody>
          <a:bodyPr wrap="square" lIns="0" tIns="0" rIns="0" bIns="0" rtlCol="0" anchor="t">
            <a:spAutoFit/>
          </a:bodyPr>
          <a:lstStyle/>
          <a:p>
            <a:pPr>
              <a:lnSpc>
                <a:spcPts val="5715"/>
              </a:lnSpc>
            </a:pPr>
            <a:r>
              <a:rPr lang="vi-VN" altLang="en-US" sz="45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2. DECREASED CONVERSION RATES</a:t>
            </a:r>
          </a:p>
        </p:txBody>
      </p:sp>
      <p:sp>
        <p:nvSpPr>
          <p:cNvPr id="2" name="Text Box 17">
            <a:extLst>
              <a:ext uri="{FF2B5EF4-FFF2-40B4-BE49-F238E27FC236}">
                <a16:creationId xmlns:a16="http://schemas.microsoft.com/office/drawing/2014/main" id="{4263CE9E-CE5E-3260-0DC3-DB2A1E79CA08}"/>
              </a:ext>
            </a:extLst>
          </p:cNvPr>
          <p:cNvSpPr txBox="1"/>
          <p:nvPr/>
        </p:nvSpPr>
        <p:spPr>
          <a:xfrm>
            <a:off x="990600" y="2565228"/>
            <a:ext cx="5867400" cy="5579348"/>
          </a:xfrm>
          <a:prstGeom prst="rect">
            <a:avLst/>
          </a:prstGeom>
          <a:noFill/>
        </p:spPr>
        <p:txBody>
          <a:bodyPr wrap="square" rtlCol="0">
            <a:spAutoFit/>
          </a:bodyPr>
          <a:lstStyle/>
          <a:p>
            <a:pPr>
              <a:lnSpc>
                <a:spcPct val="160000"/>
              </a:lnSpc>
            </a:pPr>
            <a:r>
              <a:rPr lang="en-US" sz="3000" b="1" dirty="0"/>
              <a:t>Highest Conversion Rates:</a:t>
            </a:r>
          </a:p>
          <a:p>
            <a:pPr>
              <a:lnSpc>
                <a:spcPct val="160000"/>
              </a:lnSpc>
            </a:pPr>
            <a:r>
              <a:rPr lang="en-US" sz="2800" dirty="0"/>
              <a:t>January recorded the highest overall conversion rate at 19.6%, driven significantly by the </a:t>
            </a:r>
            <a:r>
              <a:rPr lang="en-US" sz="2800" b="1" dirty="0"/>
              <a:t>Ski Boots </a:t>
            </a:r>
            <a:r>
              <a:rPr lang="en-US" sz="2800" dirty="0"/>
              <a:t>with a remarkable 150% conversion. This indicates a strong start to the year, likely fueled by seasonal demand and effective marketing strategies.</a:t>
            </a:r>
          </a:p>
        </p:txBody>
      </p:sp>
      <p:pic>
        <p:nvPicPr>
          <p:cNvPr id="3" name="Picture 2">
            <a:extLst>
              <a:ext uri="{FF2B5EF4-FFF2-40B4-BE49-F238E27FC236}">
                <a16:creationId xmlns:a16="http://schemas.microsoft.com/office/drawing/2014/main" id="{1038F8E7-29A6-C45E-B1C9-A126C8C221E5}"/>
              </a:ext>
            </a:extLst>
          </p:cNvPr>
          <p:cNvPicPr>
            <a:picLocks noChangeAspect="1"/>
          </p:cNvPicPr>
          <p:nvPr/>
        </p:nvPicPr>
        <p:blipFill>
          <a:blip r:embed="rId3"/>
          <a:stretch>
            <a:fillRect/>
          </a:stretch>
        </p:blipFill>
        <p:spPr>
          <a:xfrm>
            <a:off x="7620000" y="2552700"/>
            <a:ext cx="10433210" cy="6096000"/>
          </a:xfrm>
          <a:prstGeom prst="rect">
            <a:avLst/>
          </a:prstGeom>
        </p:spPr>
      </p:pic>
      <p:sp>
        <p:nvSpPr>
          <p:cNvPr id="4" name="Rectangle 3">
            <a:extLst>
              <a:ext uri="{FF2B5EF4-FFF2-40B4-BE49-F238E27FC236}">
                <a16:creationId xmlns:a16="http://schemas.microsoft.com/office/drawing/2014/main" id="{39CDBE88-F8AB-0A7B-047B-5572EA3F19E3}"/>
              </a:ext>
            </a:extLst>
          </p:cNvPr>
          <p:cNvSpPr/>
          <p:nvPr/>
        </p:nvSpPr>
        <p:spPr>
          <a:xfrm>
            <a:off x="9220200" y="2518954"/>
            <a:ext cx="762000" cy="6282146"/>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Rectangle 5">
            <a:extLst>
              <a:ext uri="{FF2B5EF4-FFF2-40B4-BE49-F238E27FC236}">
                <a16:creationId xmlns:a16="http://schemas.microsoft.com/office/drawing/2014/main" id="{4D9A7F17-D9E2-FBAB-F13C-E20957EA4A03}"/>
              </a:ext>
            </a:extLst>
          </p:cNvPr>
          <p:cNvSpPr/>
          <p:nvPr/>
        </p:nvSpPr>
        <p:spPr>
          <a:xfrm>
            <a:off x="12039600" y="2518954"/>
            <a:ext cx="685800" cy="628214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69735610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19"/>
          <p:cNvSpPr txBox="1"/>
          <p:nvPr/>
        </p:nvSpPr>
        <p:spPr>
          <a:xfrm>
            <a:off x="1028700" y="676275"/>
            <a:ext cx="10192385" cy="700576"/>
          </a:xfrm>
          <a:prstGeom prst="rect">
            <a:avLst/>
          </a:prstGeom>
        </p:spPr>
        <p:txBody>
          <a:bodyPr wrap="square" lIns="0" tIns="0" rIns="0" bIns="0" rtlCol="0" anchor="t">
            <a:spAutoFit/>
          </a:bodyPr>
          <a:lstStyle/>
          <a:p>
            <a:pPr>
              <a:lnSpc>
                <a:spcPts val="5715"/>
              </a:lnSpc>
            </a:pPr>
            <a:r>
              <a:rPr lang="vi-VN" altLang="en-US" sz="45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3. REDUCED CUSTOMER ENGAGEMENT</a:t>
            </a:r>
          </a:p>
        </p:txBody>
      </p:sp>
      <p:pic>
        <p:nvPicPr>
          <p:cNvPr id="7" name="Picture 6">
            <a:extLst>
              <a:ext uri="{FF2B5EF4-FFF2-40B4-BE49-F238E27FC236}">
                <a16:creationId xmlns:a16="http://schemas.microsoft.com/office/drawing/2014/main" id="{3029809F-85AF-18BE-6358-334D1A97210E}"/>
              </a:ext>
            </a:extLst>
          </p:cNvPr>
          <p:cNvPicPr>
            <a:picLocks noChangeAspect="1"/>
          </p:cNvPicPr>
          <p:nvPr/>
        </p:nvPicPr>
        <p:blipFill>
          <a:blip r:embed="rId3"/>
          <a:stretch>
            <a:fillRect/>
          </a:stretch>
        </p:blipFill>
        <p:spPr>
          <a:xfrm>
            <a:off x="12261667" y="5829300"/>
            <a:ext cx="6019801" cy="3822644"/>
          </a:xfrm>
          <a:prstGeom prst="rect">
            <a:avLst/>
          </a:prstGeom>
        </p:spPr>
      </p:pic>
      <p:pic>
        <p:nvPicPr>
          <p:cNvPr id="9" name="Picture 8">
            <a:extLst>
              <a:ext uri="{FF2B5EF4-FFF2-40B4-BE49-F238E27FC236}">
                <a16:creationId xmlns:a16="http://schemas.microsoft.com/office/drawing/2014/main" id="{736C2C39-BF94-318C-2E9C-962D8D8FADEC}"/>
              </a:ext>
            </a:extLst>
          </p:cNvPr>
          <p:cNvPicPr>
            <a:picLocks noChangeAspect="1"/>
          </p:cNvPicPr>
          <p:nvPr/>
        </p:nvPicPr>
        <p:blipFill>
          <a:blip r:embed="rId4"/>
          <a:stretch>
            <a:fillRect/>
          </a:stretch>
        </p:blipFill>
        <p:spPr>
          <a:xfrm>
            <a:off x="12261668" y="1692824"/>
            <a:ext cx="6019801" cy="3916907"/>
          </a:xfrm>
          <a:prstGeom prst="rect">
            <a:avLst/>
          </a:prstGeom>
        </p:spPr>
      </p:pic>
      <p:cxnSp>
        <p:nvCxnSpPr>
          <p:cNvPr id="15" name="Straight Arrow Connector 14">
            <a:extLst>
              <a:ext uri="{FF2B5EF4-FFF2-40B4-BE49-F238E27FC236}">
                <a16:creationId xmlns:a16="http://schemas.microsoft.com/office/drawing/2014/main" id="{D6296301-90B8-E3A5-EFDB-428377E0F4B9}"/>
              </a:ext>
            </a:extLst>
          </p:cNvPr>
          <p:cNvCxnSpPr>
            <a:cxnSpLocks/>
          </p:cNvCxnSpPr>
          <p:nvPr/>
        </p:nvCxnSpPr>
        <p:spPr>
          <a:xfrm>
            <a:off x="15468600" y="2933700"/>
            <a:ext cx="2590800" cy="815453"/>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0" name="Text Box 17">
            <a:extLst>
              <a:ext uri="{FF2B5EF4-FFF2-40B4-BE49-F238E27FC236}">
                <a16:creationId xmlns:a16="http://schemas.microsoft.com/office/drawing/2014/main" id="{E21E0CAD-A01F-824E-EBE9-B85DC902D8BE}"/>
              </a:ext>
            </a:extLst>
          </p:cNvPr>
          <p:cNvSpPr txBox="1"/>
          <p:nvPr/>
        </p:nvSpPr>
        <p:spPr>
          <a:xfrm>
            <a:off x="609600" y="1638300"/>
            <a:ext cx="11163300" cy="8061566"/>
          </a:xfrm>
          <a:prstGeom prst="rect">
            <a:avLst/>
          </a:prstGeom>
          <a:noFill/>
        </p:spPr>
        <p:txBody>
          <a:bodyPr wrap="square" rtlCol="0">
            <a:spAutoFit/>
          </a:bodyPr>
          <a:lstStyle/>
          <a:p>
            <a:pPr>
              <a:lnSpc>
                <a:spcPct val="170000"/>
              </a:lnSpc>
            </a:pPr>
            <a:r>
              <a:rPr lang="en-US" sz="2800" b="1" dirty="0"/>
              <a:t>Declining Views:</a:t>
            </a:r>
          </a:p>
          <a:p>
            <a:pPr lvl="1">
              <a:lnSpc>
                <a:spcPct val="170000"/>
              </a:lnSpc>
            </a:pPr>
            <a:r>
              <a:rPr lang="en-US" sz="2800" dirty="0"/>
              <a:t>Overall content views peaked in the first half of the year, particularly around March–May, before gradually declining from August onward, indicating reduced audience engagement in the later months.</a:t>
            </a:r>
          </a:p>
          <a:p>
            <a:pPr>
              <a:lnSpc>
                <a:spcPct val="170000"/>
              </a:lnSpc>
            </a:pPr>
            <a:r>
              <a:rPr lang="en-US" sz="2800" b="1" dirty="0"/>
              <a:t>Low Interaction Rates:</a:t>
            </a:r>
          </a:p>
          <a:p>
            <a:pPr lvl="1">
              <a:lnSpc>
                <a:spcPct val="170000"/>
              </a:lnSpc>
            </a:pPr>
            <a:r>
              <a:rPr lang="en-US" sz="2800" dirty="0"/>
              <a:t>Clicks and likes remained consistently low compared to views, suggesting the need for more engaging content or stronger calls to action.</a:t>
            </a:r>
          </a:p>
          <a:p>
            <a:pPr>
              <a:lnSpc>
                <a:spcPct val="170000"/>
              </a:lnSpc>
            </a:pPr>
            <a:r>
              <a:rPr lang="en-US" sz="2800" b="1" dirty="0"/>
              <a:t>Content Type Performance:</a:t>
            </a:r>
          </a:p>
          <a:p>
            <a:pPr lvl="1">
              <a:lnSpc>
                <a:spcPct val="170000"/>
              </a:lnSpc>
            </a:pPr>
            <a:r>
              <a:rPr lang="en-US" sz="2800" dirty="0"/>
              <a:t>Blog and newsletter content generated the highest views, especially in March - May, whereas social media and video content showed more stable but comparatively lower engagement throughout the year.</a:t>
            </a:r>
            <a:endParaRPr lang="nb-NO" sz="2800" dirty="0"/>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3BF73-7371-1AC5-2A1E-35C7553BE6CF}"/>
            </a:ext>
          </a:extLst>
        </p:cNvPr>
        <p:cNvGrpSpPr/>
        <p:nvPr/>
      </p:nvGrpSpPr>
      <p:grpSpPr>
        <a:xfrm>
          <a:off x="0" y="0"/>
          <a:ext cx="0" cy="0"/>
          <a:chOff x="0" y="0"/>
          <a:chExt cx="0" cy="0"/>
        </a:xfrm>
      </p:grpSpPr>
      <p:sp>
        <p:nvSpPr>
          <p:cNvPr id="10" name="TextBox 19">
            <a:extLst>
              <a:ext uri="{FF2B5EF4-FFF2-40B4-BE49-F238E27FC236}">
                <a16:creationId xmlns:a16="http://schemas.microsoft.com/office/drawing/2014/main" id="{E02FFC9D-5B39-9AD8-7CB2-F78619E30730}"/>
              </a:ext>
            </a:extLst>
          </p:cNvPr>
          <p:cNvSpPr txBox="1"/>
          <p:nvPr/>
        </p:nvSpPr>
        <p:spPr>
          <a:xfrm>
            <a:off x="1028700" y="676275"/>
            <a:ext cx="10192385" cy="700576"/>
          </a:xfrm>
          <a:prstGeom prst="rect">
            <a:avLst/>
          </a:prstGeom>
        </p:spPr>
        <p:txBody>
          <a:bodyPr wrap="square" lIns="0" tIns="0" rIns="0" bIns="0" rtlCol="0" anchor="t">
            <a:spAutoFit/>
          </a:bodyPr>
          <a:lstStyle/>
          <a:p>
            <a:pPr>
              <a:lnSpc>
                <a:spcPts val="5715"/>
              </a:lnSpc>
            </a:pPr>
            <a:r>
              <a:rPr lang="vi-VN" altLang="en-US" sz="45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4. CUSTOMER FEEDBACK ANALYSIS</a:t>
            </a:r>
          </a:p>
        </p:txBody>
      </p:sp>
      <p:sp>
        <p:nvSpPr>
          <p:cNvPr id="20" name="Text Box 17">
            <a:extLst>
              <a:ext uri="{FF2B5EF4-FFF2-40B4-BE49-F238E27FC236}">
                <a16:creationId xmlns:a16="http://schemas.microsoft.com/office/drawing/2014/main" id="{BFDB5200-B825-48F6-54CA-5D5BD36BDB60}"/>
              </a:ext>
            </a:extLst>
          </p:cNvPr>
          <p:cNvSpPr txBox="1"/>
          <p:nvPr/>
        </p:nvSpPr>
        <p:spPr>
          <a:xfrm>
            <a:off x="990600" y="1800497"/>
            <a:ext cx="10820400" cy="7329058"/>
          </a:xfrm>
          <a:prstGeom prst="rect">
            <a:avLst/>
          </a:prstGeom>
          <a:noFill/>
        </p:spPr>
        <p:txBody>
          <a:bodyPr wrap="square" rtlCol="0">
            <a:spAutoFit/>
          </a:bodyPr>
          <a:lstStyle/>
          <a:p>
            <a:pPr>
              <a:lnSpc>
                <a:spcPct val="170000"/>
              </a:lnSpc>
            </a:pPr>
            <a:r>
              <a:rPr lang="en-US" sz="2800" b="1" dirty="0"/>
              <a:t>Customer Ratings Distribution:</a:t>
            </a:r>
          </a:p>
          <a:p>
            <a:pPr lvl="1">
              <a:lnSpc>
                <a:spcPct val="170000"/>
              </a:lnSpc>
            </a:pPr>
            <a:r>
              <a:rPr lang="en-US" sz="2800"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sz="2800" b="1" dirty="0"/>
              <a:t>Sentiment Analysis:</a:t>
            </a:r>
          </a:p>
          <a:p>
            <a:pPr lvl="1">
              <a:lnSpc>
                <a:spcPct val="170000"/>
              </a:lnSpc>
            </a:pPr>
            <a:r>
              <a:rPr lang="en-US" sz="2800"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p:txBody>
      </p:sp>
      <p:pic>
        <p:nvPicPr>
          <p:cNvPr id="8" name="Picture 7">
            <a:extLst>
              <a:ext uri="{FF2B5EF4-FFF2-40B4-BE49-F238E27FC236}">
                <a16:creationId xmlns:a16="http://schemas.microsoft.com/office/drawing/2014/main" id="{E9E45690-9937-CB16-16A4-5340173667ED}"/>
              </a:ext>
            </a:extLst>
          </p:cNvPr>
          <p:cNvPicPr>
            <a:picLocks noChangeAspect="1"/>
          </p:cNvPicPr>
          <p:nvPr/>
        </p:nvPicPr>
        <p:blipFill>
          <a:blip r:embed="rId3"/>
          <a:stretch>
            <a:fillRect/>
          </a:stretch>
        </p:blipFill>
        <p:spPr>
          <a:xfrm>
            <a:off x="13120705" y="1790700"/>
            <a:ext cx="4717207" cy="3607277"/>
          </a:xfrm>
          <a:prstGeom prst="rect">
            <a:avLst/>
          </a:prstGeom>
        </p:spPr>
      </p:pic>
      <p:pic>
        <p:nvPicPr>
          <p:cNvPr id="12" name="Picture 11">
            <a:extLst>
              <a:ext uri="{FF2B5EF4-FFF2-40B4-BE49-F238E27FC236}">
                <a16:creationId xmlns:a16="http://schemas.microsoft.com/office/drawing/2014/main" id="{38D2A32F-79D6-9F83-A5C9-52FC6231028A}"/>
              </a:ext>
            </a:extLst>
          </p:cNvPr>
          <p:cNvPicPr>
            <a:picLocks noChangeAspect="1"/>
          </p:cNvPicPr>
          <p:nvPr/>
        </p:nvPicPr>
        <p:blipFill>
          <a:blip r:embed="rId4"/>
          <a:stretch>
            <a:fillRect/>
          </a:stretch>
        </p:blipFill>
        <p:spPr>
          <a:xfrm>
            <a:off x="13120706" y="5829300"/>
            <a:ext cx="4717208" cy="3437966"/>
          </a:xfrm>
          <a:prstGeom prst="rect">
            <a:avLst/>
          </a:prstGeom>
        </p:spPr>
      </p:pic>
    </p:spTree>
    <p:extLst>
      <p:ext uri="{BB962C8B-B14F-4D97-AF65-F5344CB8AC3E}">
        <p14:creationId xmlns:p14="http://schemas.microsoft.com/office/powerpoint/2010/main" val="1045699412"/>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DE78F-8D58-886F-5336-3FD05122A44F}"/>
            </a:ext>
          </a:extLst>
        </p:cNvPr>
        <p:cNvGrpSpPr/>
        <p:nvPr/>
      </p:nvGrpSpPr>
      <p:grpSpPr>
        <a:xfrm>
          <a:off x="0" y="0"/>
          <a:ext cx="0" cy="0"/>
          <a:chOff x="0" y="0"/>
          <a:chExt cx="0" cy="0"/>
        </a:xfrm>
      </p:grpSpPr>
      <p:sp>
        <p:nvSpPr>
          <p:cNvPr id="10" name="TextBox 19">
            <a:extLst>
              <a:ext uri="{FF2B5EF4-FFF2-40B4-BE49-F238E27FC236}">
                <a16:creationId xmlns:a16="http://schemas.microsoft.com/office/drawing/2014/main" id="{8EC56743-93FB-D815-A7C6-7904DDFC427A}"/>
              </a:ext>
            </a:extLst>
          </p:cNvPr>
          <p:cNvSpPr txBox="1"/>
          <p:nvPr/>
        </p:nvSpPr>
        <p:spPr>
          <a:xfrm>
            <a:off x="1028700" y="676275"/>
            <a:ext cx="10192385" cy="700576"/>
          </a:xfrm>
          <a:prstGeom prst="rect">
            <a:avLst/>
          </a:prstGeom>
        </p:spPr>
        <p:txBody>
          <a:bodyPr wrap="square" lIns="0" tIns="0" rIns="0" bIns="0" rtlCol="0" anchor="t">
            <a:spAutoFit/>
          </a:bodyPr>
          <a:lstStyle/>
          <a:p>
            <a:pPr>
              <a:lnSpc>
                <a:spcPts val="5715"/>
              </a:lnSpc>
            </a:pPr>
            <a:r>
              <a:rPr lang="vi-VN" altLang="en-US" sz="45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4. CUSTOMER FEEDBACK ANALYSIS</a:t>
            </a:r>
          </a:p>
        </p:txBody>
      </p:sp>
      <p:sp>
        <p:nvSpPr>
          <p:cNvPr id="20" name="Text Box 17">
            <a:extLst>
              <a:ext uri="{FF2B5EF4-FFF2-40B4-BE49-F238E27FC236}">
                <a16:creationId xmlns:a16="http://schemas.microsoft.com/office/drawing/2014/main" id="{C0D3A6D5-EF69-1444-A575-A5C86EFAEC39}"/>
              </a:ext>
            </a:extLst>
          </p:cNvPr>
          <p:cNvSpPr txBox="1"/>
          <p:nvPr/>
        </p:nvSpPr>
        <p:spPr>
          <a:xfrm>
            <a:off x="1028700" y="3009900"/>
            <a:ext cx="10629900" cy="4399025"/>
          </a:xfrm>
          <a:prstGeom prst="rect">
            <a:avLst/>
          </a:prstGeom>
          <a:noFill/>
        </p:spPr>
        <p:txBody>
          <a:bodyPr wrap="square" rtlCol="0">
            <a:spAutoFit/>
          </a:bodyPr>
          <a:lstStyle/>
          <a:p>
            <a:pPr>
              <a:lnSpc>
                <a:spcPct val="170000"/>
              </a:lnSpc>
            </a:pPr>
            <a:r>
              <a:rPr lang="en-US" sz="2800" b="1" dirty="0"/>
              <a:t>Opportunity for Improvement:</a:t>
            </a:r>
          </a:p>
          <a:p>
            <a:pPr lvl="1">
              <a:lnSpc>
                <a:spcPct val="170000"/>
              </a:lnSpc>
            </a:pPr>
            <a:r>
              <a:rPr lang="en-US" sz="2800"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sz="2800" dirty="0"/>
          </a:p>
        </p:txBody>
      </p:sp>
      <p:pic>
        <p:nvPicPr>
          <p:cNvPr id="8" name="Picture 7">
            <a:extLst>
              <a:ext uri="{FF2B5EF4-FFF2-40B4-BE49-F238E27FC236}">
                <a16:creationId xmlns:a16="http://schemas.microsoft.com/office/drawing/2014/main" id="{8FED3A84-AB2C-39E6-3741-AB8771A2C6E0}"/>
              </a:ext>
            </a:extLst>
          </p:cNvPr>
          <p:cNvPicPr>
            <a:picLocks noChangeAspect="1"/>
          </p:cNvPicPr>
          <p:nvPr/>
        </p:nvPicPr>
        <p:blipFill>
          <a:blip r:embed="rId3"/>
          <a:stretch>
            <a:fillRect/>
          </a:stretch>
        </p:blipFill>
        <p:spPr>
          <a:xfrm>
            <a:off x="13120705" y="1790700"/>
            <a:ext cx="4717207" cy="3607277"/>
          </a:xfrm>
          <a:prstGeom prst="rect">
            <a:avLst/>
          </a:prstGeom>
        </p:spPr>
      </p:pic>
      <p:pic>
        <p:nvPicPr>
          <p:cNvPr id="12" name="Picture 11">
            <a:extLst>
              <a:ext uri="{FF2B5EF4-FFF2-40B4-BE49-F238E27FC236}">
                <a16:creationId xmlns:a16="http://schemas.microsoft.com/office/drawing/2014/main" id="{B4B10754-ECAC-85AD-C138-1A3DDA8C3C7E}"/>
              </a:ext>
            </a:extLst>
          </p:cNvPr>
          <p:cNvPicPr>
            <a:picLocks noChangeAspect="1"/>
          </p:cNvPicPr>
          <p:nvPr/>
        </p:nvPicPr>
        <p:blipFill>
          <a:blip r:embed="rId4"/>
          <a:stretch>
            <a:fillRect/>
          </a:stretch>
        </p:blipFill>
        <p:spPr>
          <a:xfrm>
            <a:off x="13120706" y="5829300"/>
            <a:ext cx="4717208" cy="3437966"/>
          </a:xfrm>
          <a:prstGeom prst="rect">
            <a:avLst/>
          </a:prstGeom>
        </p:spPr>
      </p:pic>
    </p:spTree>
    <p:extLst>
      <p:ext uri="{BB962C8B-B14F-4D97-AF65-F5344CB8AC3E}">
        <p14:creationId xmlns:p14="http://schemas.microsoft.com/office/powerpoint/2010/main" val="4158655516"/>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C4A74-8CA2-93D8-688C-38F774819293}"/>
            </a:ext>
          </a:extLst>
        </p:cNvPr>
        <p:cNvGrpSpPr/>
        <p:nvPr/>
      </p:nvGrpSpPr>
      <p:grpSpPr>
        <a:xfrm>
          <a:off x="0" y="0"/>
          <a:ext cx="0" cy="0"/>
          <a:chOff x="0" y="0"/>
          <a:chExt cx="0" cy="0"/>
        </a:xfrm>
      </p:grpSpPr>
      <p:sp>
        <p:nvSpPr>
          <p:cNvPr id="10" name="TextBox 19">
            <a:extLst>
              <a:ext uri="{FF2B5EF4-FFF2-40B4-BE49-F238E27FC236}">
                <a16:creationId xmlns:a16="http://schemas.microsoft.com/office/drawing/2014/main" id="{B81129AF-267A-BD8B-6F8F-D91670D05E9F}"/>
              </a:ext>
            </a:extLst>
          </p:cNvPr>
          <p:cNvSpPr txBox="1"/>
          <p:nvPr/>
        </p:nvSpPr>
        <p:spPr>
          <a:xfrm>
            <a:off x="1028700" y="676275"/>
            <a:ext cx="10192385" cy="700576"/>
          </a:xfrm>
          <a:prstGeom prst="rect">
            <a:avLst/>
          </a:prstGeom>
        </p:spPr>
        <p:txBody>
          <a:bodyPr wrap="square" lIns="0" tIns="0" rIns="0" bIns="0" rtlCol="0" anchor="t">
            <a:spAutoFit/>
          </a:bodyPr>
          <a:lstStyle/>
          <a:p>
            <a:pPr>
              <a:lnSpc>
                <a:spcPts val="5715"/>
              </a:lnSpc>
            </a:pPr>
            <a:r>
              <a:rPr lang="vi-VN" altLang="en-US" sz="45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5. GOALS &amp; ACTIONS</a:t>
            </a:r>
          </a:p>
        </p:txBody>
      </p:sp>
      <p:sp>
        <p:nvSpPr>
          <p:cNvPr id="20" name="Text Box 17">
            <a:extLst>
              <a:ext uri="{FF2B5EF4-FFF2-40B4-BE49-F238E27FC236}">
                <a16:creationId xmlns:a16="http://schemas.microsoft.com/office/drawing/2014/main" id="{ED548650-3C60-58FE-0E1E-DC9CE7D6878E}"/>
              </a:ext>
            </a:extLst>
          </p:cNvPr>
          <p:cNvSpPr txBox="1"/>
          <p:nvPr/>
        </p:nvSpPr>
        <p:spPr>
          <a:xfrm>
            <a:off x="1028700" y="2737951"/>
            <a:ext cx="17259300" cy="6596549"/>
          </a:xfrm>
          <a:prstGeom prst="rect">
            <a:avLst/>
          </a:prstGeom>
          <a:noFill/>
        </p:spPr>
        <p:txBody>
          <a:bodyPr wrap="square" rtlCol="0">
            <a:spAutoFit/>
          </a:bodyPr>
          <a:lstStyle/>
          <a:p>
            <a:pPr>
              <a:lnSpc>
                <a:spcPct val="170000"/>
              </a:lnSpc>
            </a:pPr>
            <a:r>
              <a:rPr lang="en-US" sz="2800" b="1" dirty="0"/>
              <a:t>Increase Conversion Rates:</a:t>
            </a:r>
          </a:p>
          <a:p>
            <a:pPr lvl="1">
              <a:lnSpc>
                <a:spcPct val="170000"/>
              </a:lnSpc>
            </a:pPr>
            <a:r>
              <a:rPr lang="en-US" sz="2800" b="1" dirty="0"/>
              <a:t>Goal: </a:t>
            </a:r>
            <a:r>
              <a:rPr lang="en-US" sz="2800" dirty="0"/>
              <a:t>Identify factors impacting the conversion rate and provide recommendations to improve it.</a:t>
            </a:r>
          </a:p>
          <a:p>
            <a:pPr lvl="1">
              <a:lnSpc>
                <a:spcPct val="170000"/>
              </a:lnSpc>
            </a:pPr>
            <a:r>
              <a:rPr lang="en-US" sz="2800" b="1" dirty="0"/>
              <a:t>Insight: </a:t>
            </a:r>
            <a:r>
              <a:rPr lang="en-US" sz="2800" dirty="0"/>
              <a:t>Highlight key stages where visitors drop off and suggest improvements to optimize the conversion funnel.</a:t>
            </a:r>
          </a:p>
          <a:p>
            <a:pPr>
              <a:lnSpc>
                <a:spcPct val="170000"/>
              </a:lnSpc>
            </a:pPr>
            <a:r>
              <a:rPr lang="en-US" sz="2800" b="1" dirty="0"/>
              <a:t>Enhance Customer Engagement:</a:t>
            </a:r>
            <a:endParaRPr lang="en-US" sz="2800" dirty="0"/>
          </a:p>
          <a:p>
            <a:pPr lvl="1">
              <a:lnSpc>
                <a:spcPct val="170000"/>
              </a:lnSpc>
            </a:pPr>
            <a:r>
              <a:rPr lang="en-US" sz="2800" b="1" dirty="0"/>
              <a:t>Goal:</a:t>
            </a:r>
            <a:r>
              <a:rPr lang="en-US" sz="2800" dirty="0"/>
              <a:t> Determine which types of content drive the highest engagement. </a:t>
            </a:r>
          </a:p>
          <a:p>
            <a:pPr lvl="1">
              <a:lnSpc>
                <a:spcPct val="170000"/>
              </a:lnSpc>
            </a:pPr>
            <a:r>
              <a:rPr lang="en-US" sz="2800" b="1" dirty="0"/>
              <a:t>Insight:</a:t>
            </a:r>
            <a:r>
              <a:rPr lang="en-US" sz="2800" dirty="0"/>
              <a:t> Analyze interaction levels with different types of marketing content to inform better content strategies.</a:t>
            </a:r>
          </a:p>
          <a:p>
            <a:pPr>
              <a:lnSpc>
                <a:spcPct val="170000"/>
              </a:lnSpc>
            </a:pPr>
            <a:r>
              <a:rPr lang="en-US" sz="2800" b="1" dirty="0"/>
              <a:t>Improve Customer Feedback Scores:</a:t>
            </a:r>
            <a:endParaRPr lang="en-US" sz="2800" dirty="0"/>
          </a:p>
          <a:p>
            <a:pPr lvl="1">
              <a:lnSpc>
                <a:spcPct val="170000"/>
              </a:lnSpc>
            </a:pPr>
            <a:r>
              <a:rPr lang="en-US" sz="2800" b="1" dirty="0"/>
              <a:t>Goal:</a:t>
            </a:r>
            <a:r>
              <a:rPr lang="en-US" sz="2800" dirty="0"/>
              <a:t> Understand common themes in customer reviews and provide actionable insights.</a:t>
            </a:r>
          </a:p>
          <a:p>
            <a:pPr lvl="1">
              <a:lnSpc>
                <a:spcPct val="170000"/>
              </a:lnSpc>
            </a:pPr>
            <a:r>
              <a:rPr lang="en-US" sz="2800" b="1" dirty="0"/>
              <a:t>Insight:</a:t>
            </a:r>
            <a:r>
              <a:rPr lang="en-US" sz="2800" dirty="0"/>
              <a:t> Identify recurring positive and negative feedback to guide product and service improvements.</a:t>
            </a:r>
          </a:p>
        </p:txBody>
      </p:sp>
      <p:grpSp>
        <p:nvGrpSpPr>
          <p:cNvPr id="2" name="Group 1">
            <a:extLst>
              <a:ext uri="{FF2B5EF4-FFF2-40B4-BE49-F238E27FC236}">
                <a16:creationId xmlns:a16="http://schemas.microsoft.com/office/drawing/2014/main" id="{F7056D92-5A2F-9AE6-5052-B1FB83C2D48C}"/>
              </a:ext>
            </a:extLst>
          </p:cNvPr>
          <p:cNvGrpSpPr/>
          <p:nvPr/>
        </p:nvGrpSpPr>
        <p:grpSpPr>
          <a:xfrm>
            <a:off x="570865" y="1638298"/>
            <a:ext cx="9572626" cy="846455"/>
            <a:chOff x="899" y="3180"/>
            <a:chExt cx="15075" cy="1333"/>
          </a:xfrm>
        </p:grpSpPr>
        <p:grpSp>
          <p:nvGrpSpPr>
            <p:cNvPr id="3" name="Group 8">
              <a:extLst>
                <a:ext uri="{FF2B5EF4-FFF2-40B4-BE49-F238E27FC236}">
                  <a16:creationId xmlns:a16="http://schemas.microsoft.com/office/drawing/2014/main" id="{B9307F15-7118-09CD-0CB0-4AC65B9CC269}"/>
                </a:ext>
              </a:extLst>
            </p:cNvPr>
            <p:cNvGrpSpPr/>
            <p:nvPr/>
          </p:nvGrpSpPr>
          <p:grpSpPr>
            <a:xfrm>
              <a:off x="2880" y="3180"/>
              <a:ext cx="13094" cy="1333"/>
              <a:chOff x="2341" y="-40152"/>
              <a:chExt cx="2189742" cy="223009"/>
            </a:xfrm>
          </p:grpSpPr>
          <p:sp>
            <p:nvSpPr>
              <p:cNvPr id="6" name="Freeform 9">
                <a:extLst>
                  <a:ext uri="{FF2B5EF4-FFF2-40B4-BE49-F238E27FC236}">
                    <a16:creationId xmlns:a16="http://schemas.microsoft.com/office/drawing/2014/main" id="{A960318D-840F-36E1-2241-7A906A833AFF}"/>
                  </a:ext>
                </a:extLst>
              </p:cNvPr>
              <p:cNvSpPr/>
              <p:nvPr/>
            </p:nvSpPr>
            <p:spPr>
              <a:xfrm>
                <a:off x="2341" y="0"/>
                <a:ext cx="822784"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txBody>
              <a:bodyPr/>
              <a:lstStyle/>
              <a:p>
                <a:endParaRPr lang="vi-VN" dirty="0">
                  <a:latin typeface="+mj-lt"/>
                </a:endParaRPr>
              </a:p>
            </p:txBody>
          </p:sp>
          <p:sp>
            <p:nvSpPr>
              <p:cNvPr id="7" name="TextBox 6">
                <a:extLst>
                  <a:ext uri="{FF2B5EF4-FFF2-40B4-BE49-F238E27FC236}">
                    <a16:creationId xmlns:a16="http://schemas.microsoft.com/office/drawing/2014/main" id="{D30C84B7-5A01-C942-82EA-AA4B631DE3C8}"/>
                  </a:ext>
                </a:extLst>
              </p:cNvPr>
              <p:cNvSpPr txBox="1"/>
              <p:nvPr/>
            </p:nvSpPr>
            <p:spPr>
              <a:xfrm>
                <a:off x="263224" y="-40152"/>
                <a:ext cx="1928859" cy="223009"/>
              </a:xfrm>
              <a:prstGeom prst="rect">
                <a:avLst/>
              </a:prstGeom>
            </p:spPr>
            <p:txBody>
              <a:bodyPr lIns="50800" tIns="50800" rIns="50800" bIns="50800" rtlCol="0" anchor="ctr"/>
              <a:lstStyle/>
              <a:p>
                <a:pPr algn="ctr">
                  <a:lnSpc>
                    <a:spcPts val="2800"/>
                  </a:lnSpc>
                </a:pPr>
                <a:endParaRPr>
                  <a:latin typeface="+mj-lt"/>
                </a:endParaRPr>
              </a:p>
            </p:txBody>
          </p:sp>
        </p:grpSp>
        <p:sp>
          <p:nvSpPr>
            <p:cNvPr id="4" name="Freeform 11">
              <a:extLst>
                <a:ext uri="{FF2B5EF4-FFF2-40B4-BE49-F238E27FC236}">
                  <a16:creationId xmlns:a16="http://schemas.microsoft.com/office/drawing/2014/main" id="{9991CECA-621A-02AB-47DA-635D9590BD77}"/>
                </a:ext>
              </a:extLst>
            </p:cNvPr>
            <p:cNvSpPr/>
            <p:nvPr/>
          </p:nvSpPr>
          <p:spPr>
            <a:xfrm>
              <a:off x="1472" y="3420"/>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ltLang="en-US">
                <a:latin typeface="+mj-lt"/>
              </a:endParaRPr>
            </a:p>
          </p:txBody>
        </p:sp>
        <p:sp>
          <p:nvSpPr>
            <p:cNvPr id="5" name="TextBox 27">
              <a:extLst>
                <a:ext uri="{FF2B5EF4-FFF2-40B4-BE49-F238E27FC236}">
                  <a16:creationId xmlns:a16="http://schemas.microsoft.com/office/drawing/2014/main" id="{E47712DF-368A-227D-7BC0-38A1B51A1C5F}"/>
                </a:ext>
              </a:extLst>
            </p:cNvPr>
            <p:cNvSpPr txBox="1"/>
            <p:nvPr/>
          </p:nvSpPr>
          <p:spPr>
            <a:xfrm>
              <a:off x="899" y="3633"/>
              <a:ext cx="8701" cy="640"/>
            </a:xfrm>
            <a:prstGeom prst="rect">
              <a:avLst/>
            </a:prstGeom>
          </p:spPr>
          <p:txBody>
            <a:bodyPr wrap="square" lIns="0" tIns="0" rIns="0" bIns="0" rtlCol="0" anchor="t">
              <a:spAutoFit/>
            </a:bodyPr>
            <a:lstStyle/>
            <a:p>
              <a:pPr algn="ctr">
                <a:lnSpc>
                  <a:spcPts val="3080"/>
                </a:lnSpc>
              </a:pPr>
              <a:r>
                <a:rPr lang="vi-VN" altLang="en-US" sz="32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Segoe Print" panose="02000600000000000000" charset="0"/>
                </a:rPr>
                <a:t>GOALS</a:t>
              </a:r>
            </a:p>
          </p:txBody>
        </p:sp>
      </p:grpSp>
    </p:spTree>
    <p:extLst>
      <p:ext uri="{BB962C8B-B14F-4D97-AF65-F5344CB8AC3E}">
        <p14:creationId xmlns:p14="http://schemas.microsoft.com/office/powerpoint/2010/main" val="61315449"/>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BD98D-EF0B-7394-DDBF-BDEC68425380}"/>
            </a:ext>
          </a:extLst>
        </p:cNvPr>
        <p:cNvGrpSpPr/>
        <p:nvPr/>
      </p:nvGrpSpPr>
      <p:grpSpPr>
        <a:xfrm>
          <a:off x="0" y="0"/>
          <a:ext cx="0" cy="0"/>
          <a:chOff x="0" y="0"/>
          <a:chExt cx="0" cy="0"/>
        </a:xfrm>
      </p:grpSpPr>
      <p:sp>
        <p:nvSpPr>
          <p:cNvPr id="10" name="TextBox 19">
            <a:extLst>
              <a:ext uri="{FF2B5EF4-FFF2-40B4-BE49-F238E27FC236}">
                <a16:creationId xmlns:a16="http://schemas.microsoft.com/office/drawing/2014/main" id="{A70B8EDC-8807-5B94-FB3E-45ED91C540EE}"/>
              </a:ext>
            </a:extLst>
          </p:cNvPr>
          <p:cNvSpPr txBox="1"/>
          <p:nvPr/>
        </p:nvSpPr>
        <p:spPr>
          <a:xfrm>
            <a:off x="1028700" y="676275"/>
            <a:ext cx="10192385" cy="700576"/>
          </a:xfrm>
          <a:prstGeom prst="rect">
            <a:avLst/>
          </a:prstGeom>
        </p:spPr>
        <p:txBody>
          <a:bodyPr wrap="square" lIns="0" tIns="0" rIns="0" bIns="0" rtlCol="0" anchor="t">
            <a:spAutoFit/>
          </a:bodyPr>
          <a:lstStyle/>
          <a:p>
            <a:pPr>
              <a:lnSpc>
                <a:spcPts val="5715"/>
              </a:lnSpc>
            </a:pPr>
            <a:r>
              <a:rPr lang="vi-VN" altLang="en-US" sz="4500" b="1" dirty="0">
                <a:solidFill>
                  <a:srgbClr val="0E2F5F"/>
                </a:solidFill>
                <a:latin typeface="Calibri" panose="020F0502020204030204" pitchFamily="34" charset="0"/>
                <a:ea typeface="Calibri" panose="020F0502020204030204" pitchFamily="34" charset="0"/>
                <a:cs typeface="Calibri" panose="020F0502020204030204" pitchFamily="34" charset="0"/>
                <a:sym typeface="MS UI Gothic" panose="020B0600070205080204" charset="-128"/>
              </a:rPr>
              <a:t>5. GOALS &amp; ACTIONS</a:t>
            </a:r>
          </a:p>
        </p:txBody>
      </p:sp>
      <p:sp>
        <p:nvSpPr>
          <p:cNvPr id="20" name="Text Box 17">
            <a:extLst>
              <a:ext uri="{FF2B5EF4-FFF2-40B4-BE49-F238E27FC236}">
                <a16:creationId xmlns:a16="http://schemas.microsoft.com/office/drawing/2014/main" id="{5A7C505C-FF5C-FB39-2CA2-9B0877A983D3}"/>
              </a:ext>
            </a:extLst>
          </p:cNvPr>
          <p:cNvSpPr txBox="1"/>
          <p:nvPr/>
        </p:nvSpPr>
        <p:spPr>
          <a:xfrm>
            <a:off x="1047750" y="2993306"/>
            <a:ext cx="16192500" cy="5745547"/>
          </a:xfrm>
          <a:prstGeom prst="rect">
            <a:avLst/>
          </a:prstGeom>
          <a:noFill/>
        </p:spPr>
        <p:txBody>
          <a:bodyPr wrap="square" rtlCol="0">
            <a:spAutoFit/>
          </a:bodyPr>
          <a:lstStyle/>
          <a:p>
            <a:pPr>
              <a:lnSpc>
                <a:spcPct val="120000"/>
              </a:lnSpc>
            </a:pPr>
            <a:r>
              <a:rPr lang="nb-NO" sz="2800" b="1" dirty="0">
                <a:latin typeface="Calibri" panose="020F0502020204030204" pitchFamily="34" charset="0"/>
                <a:ea typeface="Calibri" panose="020F0502020204030204" pitchFamily="34" charset="0"/>
                <a:cs typeface="Calibri" panose="020F0502020204030204" pitchFamily="34" charset="0"/>
              </a:rPr>
              <a:t>Increase Conversion Rates:</a:t>
            </a:r>
          </a:p>
          <a:p>
            <a:pPr lvl="1">
              <a:lnSpc>
                <a:spcPct val="120000"/>
              </a:lnSpc>
            </a:pPr>
            <a:r>
              <a:rPr lang="en-US" sz="2800" dirty="0"/>
              <a:t>Prioritize high-performing products such as </a:t>
            </a:r>
            <a:r>
              <a:rPr lang="en-US" sz="2800" b="1" dirty="0"/>
              <a:t>Kayaks, Ski Boots, and Baseball Gloves</a:t>
            </a:r>
            <a:r>
              <a:rPr lang="en-US" sz="2800" dirty="0"/>
              <a:t>, and leverage </a:t>
            </a:r>
            <a:r>
              <a:rPr lang="en-US" sz="2800" b="1" dirty="0"/>
              <a:t>seasonal and personalized campaigns</a:t>
            </a:r>
            <a:r>
              <a:rPr lang="en-US" sz="2800" dirty="0"/>
              <a:t> during peak months to maximize conversions</a:t>
            </a:r>
            <a:r>
              <a:rPr lang="en-US" sz="2800" dirty="0">
                <a:latin typeface="Calibri" panose="020F0502020204030204" pitchFamily="34" charset="0"/>
                <a:ea typeface="Calibri" panose="020F0502020204030204" pitchFamily="34" charset="0"/>
                <a:cs typeface="Calibri" panose="020F0502020204030204" pitchFamily="34" charset="0"/>
              </a:rPr>
              <a:t>.</a:t>
            </a:r>
          </a:p>
          <a:p>
            <a:pPr lvl="1">
              <a:lnSpc>
                <a:spcPct val="120000"/>
              </a:lnSpc>
            </a:pPr>
            <a:endParaRPr lang="nb-NO" sz="2800" dirty="0">
              <a:latin typeface="Calibri" panose="020F0502020204030204" pitchFamily="34" charset="0"/>
              <a:ea typeface="Calibri" panose="020F0502020204030204" pitchFamily="34" charset="0"/>
              <a:cs typeface="Calibri" panose="020F0502020204030204" pitchFamily="34" charset="0"/>
            </a:endParaRPr>
          </a:p>
          <a:p>
            <a:pPr>
              <a:lnSpc>
                <a:spcPct val="120000"/>
              </a:lnSpc>
            </a:pPr>
            <a:r>
              <a:rPr lang="nb-NO" sz="2800" b="1" dirty="0">
                <a:latin typeface="Calibri" panose="020F0502020204030204" pitchFamily="34" charset="0"/>
                <a:ea typeface="Calibri" panose="020F0502020204030204" pitchFamily="34" charset="0"/>
                <a:cs typeface="Calibri" panose="020F0502020204030204" pitchFamily="34" charset="0"/>
              </a:rPr>
              <a:t>Enhance Customer Engagement:</a:t>
            </a:r>
          </a:p>
          <a:p>
            <a:pPr lvl="1">
              <a:lnSpc>
                <a:spcPct val="120000"/>
              </a:lnSpc>
            </a:pPr>
            <a:r>
              <a:rPr lang="en-US" sz="2800" dirty="0"/>
              <a:t>Refresh content strategy by adopting </a:t>
            </a:r>
            <a:r>
              <a:rPr lang="en-US" sz="2800" b="1" dirty="0"/>
              <a:t>more interactive formats</a:t>
            </a:r>
            <a:r>
              <a:rPr lang="en-US" sz="2800" dirty="0"/>
              <a:t> and improving </a:t>
            </a:r>
            <a:r>
              <a:rPr lang="en-US" sz="2800" b="1" dirty="0"/>
              <a:t>call-to-action effectiveness</a:t>
            </a:r>
            <a:r>
              <a:rPr lang="en-US" sz="2800" dirty="0"/>
              <a:t>, especially during lower-engagement periods toward the end of the year</a:t>
            </a:r>
            <a:r>
              <a:rPr lang="en-US" sz="2800" dirty="0">
                <a:latin typeface="Calibri" panose="020F0502020204030204" pitchFamily="34" charset="0"/>
                <a:ea typeface="Calibri" panose="020F0502020204030204" pitchFamily="34" charset="0"/>
                <a:cs typeface="Calibri" panose="020F0502020204030204" pitchFamily="34" charset="0"/>
              </a:rPr>
              <a:t>.</a:t>
            </a:r>
          </a:p>
          <a:p>
            <a:pPr lvl="1">
              <a:lnSpc>
                <a:spcPct val="120000"/>
              </a:lnSpc>
            </a:pPr>
            <a:endParaRPr lang="nb-NO" sz="2800" dirty="0">
              <a:latin typeface="Calibri" panose="020F0502020204030204" pitchFamily="34" charset="0"/>
              <a:ea typeface="Calibri" panose="020F0502020204030204" pitchFamily="34" charset="0"/>
              <a:cs typeface="Calibri" panose="020F0502020204030204" pitchFamily="34" charset="0"/>
            </a:endParaRPr>
          </a:p>
          <a:p>
            <a:pPr>
              <a:lnSpc>
                <a:spcPct val="120000"/>
              </a:lnSpc>
            </a:pPr>
            <a:r>
              <a:rPr lang="nb-NO" sz="2800" b="1" dirty="0">
                <a:latin typeface="Calibri" panose="020F0502020204030204" pitchFamily="34" charset="0"/>
                <a:ea typeface="Calibri" panose="020F0502020204030204" pitchFamily="34" charset="0"/>
                <a:cs typeface="Calibri" panose="020F0502020204030204" pitchFamily="34" charset="0"/>
              </a:rPr>
              <a:t>Improve Customer Feedback Scores:</a:t>
            </a:r>
          </a:p>
          <a:p>
            <a:pPr lvl="1">
              <a:lnSpc>
                <a:spcPct val="120000"/>
              </a:lnSpc>
            </a:pPr>
            <a:r>
              <a:rPr lang="en-US" sz="2800" dirty="0"/>
              <a:t>Analyze mixed and negative reviews to identify recurring issues, implement targeted improvements, and proactively engage dissatisfied customers to raise average ratings toward the </a:t>
            </a:r>
            <a:r>
              <a:rPr lang="en-US" sz="2800" b="1" dirty="0"/>
              <a:t>4.0 target</a:t>
            </a:r>
            <a:r>
              <a:rPr lang="en-US" sz="2800" dirty="0">
                <a:latin typeface="Calibri" panose="020F0502020204030204" pitchFamily="34" charset="0"/>
                <a:ea typeface="Calibri" panose="020F0502020204030204" pitchFamily="34" charset="0"/>
                <a:cs typeface="Calibri" panose="020F0502020204030204" pitchFamily="34" charset="0"/>
              </a:rPr>
              <a:t>.</a:t>
            </a:r>
            <a:endParaRPr lang="nb-NO" sz="2800" dirty="0">
              <a:latin typeface="Calibri" panose="020F0502020204030204" pitchFamily="34" charset="0"/>
              <a:ea typeface="Calibri" panose="020F0502020204030204" pitchFamily="34" charset="0"/>
              <a:cs typeface="Calibri" panose="020F0502020204030204" pitchFamily="34" charset="0"/>
            </a:endParaRPr>
          </a:p>
        </p:txBody>
      </p:sp>
      <p:grpSp>
        <p:nvGrpSpPr>
          <p:cNvPr id="2" name="Group 1">
            <a:extLst>
              <a:ext uri="{FF2B5EF4-FFF2-40B4-BE49-F238E27FC236}">
                <a16:creationId xmlns:a16="http://schemas.microsoft.com/office/drawing/2014/main" id="{88F3AC83-983D-5271-5F4A-0C0C99AE7372}"/>
              </a:ext>
            </a:extLst>
          </p:cNvPr>
          <p:cNvGrpSpPr/>
          <p:nvPr/>
        </p:nvGrpSpPr>
        <p:grpSpPr>
          <a:xfrm>
            <a:off x="570865" y="1638298"/>
            <a:ext cx="9572626" cy="846455"/>
            <a:chOff x="899" y="3180"/>
            <a:chExt cx="15075" cy="1333"/>
          </a:xfrm>
        </p:grpSpPr>
        <p:grpSp>
          <p:nvGrpSpPr>
            <p:cNvPr id="3" name="Group 8">
              <a:extLst>
                <a:ext uri="{FF2B5EF4-FFF2-40B4-BE49-F238E27FC236}">
                  <a16:creationId xmlns:a16="http://schemas.microsoft.com/office/drawing/2014/main" id="{95ECB1D8-FE30-C841-DE14-AAA54B663448}"/>
                </a:ext>
              </a:extLst>
            </p:cNvPr>
            <p:cNvGrpSpPr/>
            <p:nvPr/>
          </p:nvGrpSpPr>
          <p:grpSpPr>
            <a:xfrm>
              <a:off x="2880" y="3180"/>
              <a:ext cx="13094" cy="1333"/>
              <a:chOff x="2341" y="-40152"/>
              <a:chExt cx="2189742" cy="223009"/>
            </a:xfrm>
          </p:grpSpPr>
          <p:sp>
            <p:nvSpPr>
              <p:cNvPr id="6" name="Freeform 9">
                <a:extLst>
                  <a:ext uri="{FF2B5EF4-FFF2-40B4-BE49-F238E27FC236}">
                    <a16:creationId xmlns:a16="http://schemas.microsoft.com/office/drawing/2014/main" id="{08223BFB-3874-B4CA-B85D-0EF08103D5CA}"/>
                  </a:ext>
                </a:extLst>
              </p:cNvPr>
              <p:cNvSpPr/>
              <p:nvPr/>
            </p:nvSpPr>
            <p:spPr>
              <a:xfrm>
                <a:off x="2341" y="0"/>
                <a:ext cx="822784" cy="175329"/>
              </a:xfrm>
              <a:custGeom>
                <a:avLst/>
                <a:gdLst/>
                <a:ahLst/>
                <a:cxnLst/>
                <a:rect l="l" t="t" r="r" b="b"/>
                <a:pathLst>
                  <a:path w="1295215" h="175329">
                    <a:moveTo>
                      <a:pt x="80288" y="0"/>
                    </a:moveTo>
                    <a:lnTo>
                      <a:pt x="1214927" y="0"/>
                    </a:lnTo>
                    <a:cubicBezTo>
                      <a:pt x="1236221" y="0"/>
                      <a:pt x="1256642" y="8459"/>
                      <a:pt x="1271699" y="23516"/>
                    </a:cubicBezTo>
                    <a:cubicBezTo>
                      <a:pt x="1286756" y="38573"/>
                      <a:pt x="1295215" y="58994"/>
                      <a:pt x="1295215" y="80288"/>
                    </a:cubicBezTo>
                    <a:lnTo>
                      <a:pt x="1295215" y="95041"/>
                    </a:lnTo>
                    <a:cubicBezTo>
                      <a:pt x="1295215" y="116334"/>
                      <a:pt x="1286756" y="136756"/>
                      <a:pt x="1271699" y="151813"/>
                    </a:cubicBezTo>
                    <a:cubicBezTo>
                      <a:pt x="1256642" y="166870"/>
                      <a:pt x="1236221" y="175329"/>
                      <a:pt x="1214927" y="175329"/>
                    </a:cubicBezTo>
                    <a:lnTo>
                      <a:pt x="80288" y="175329"/>
                    </a:lnTo>
                    <a:cubicBezTo>
                      <a:pt x="58994" y="175329"/>
                      <a:pt x="38573" y="166870"/>
                      <a:pt x="23516" y="151813"/>
                    </a:cubicBezTo>
                    <a:cubicBezTo>
                      <a:pt x="8459" y="136756"/>
                      <a:pt x="0" y="116334"/>
                      <a:pt x="0" y="95041"/>
                    </a:cubicBezTo>
                    <a:lnTo>
                      <a:pt x="0" y="80288"/>
                    </a:lnTo>
                    <a:cubicBezTo>
                      <a:pt x="0" y="58994"/>
                      <a:pt x="8459" y="38573"/>
                      <a:pt x="23516" y="23516"/>
                    </a:cubicBezTo>
                    <a:cubicBezTo>
                      <a:pt x="38573" y="8459"/>
                      <a:pt x="58994" y="0"/>
                      <a:pt x="80288" y="0"/>
                    </a:cubicBezTo>
                    <a:close/>
                  </a:path>
                </a:pathLst>
              </a:custGeom>
              <a:solidFill>
                <a:srgbClr val="3A577B"/>
              </a:solidFill>
            </p:spPr>
            <p:txBody>
              <a:bodyPr/>
              <a:lstStyle/>
              <a:p>
                <a:endParaRPr lang="vi-VN" dirty="0">
                  <a:latin typeface="+mj-lt"/>
                </a:endParaRPr>
              </a:p>
            </p:txBody>
          </p:sp>
          <p:sp>
            <p:nvSpPr>
              <p:cNvPr id="7" name="TextBox 6">
                <a:extLst>
                  <a:ext uri="{FF2B5EF4-FFF2-40B4-BE49-F238E27FC236}">
                    <a16:creationId xmlns:a16="http://schemas.microsoft.com/office/drawing/2014/main" id="{D245C542-DB9C-8327-3B20-F55596FB6B9B}"/>
                  </a:ext>
                </a:extLst>
              </p:cNvPr>
              <p:cNvSpPr txBox="1"/>
              <p:nvPr/>
            </p:nvSpPr>
            <p:spPr>
              <a:xfrm>
                <a:off x="263224" y="-40152"/>
                <a:ext cx="1928859" cy="223009"/>
              </a:xfrm>
              <a:prstGeom prst="rect">
                <a:avLst/>
              </a:prstGeom>
            </p:spPr>
            <p:txBody>
              <a:bodyPr lIns="50800" tIns="50800" rIns="50800" bIns="50800" rtlCol="0" anchor="ctr"/>
              <a:lstStyle/>
              <a:p>
                <a:pPr algn="ctr">
                  <a:lnSpc>
                    <a:spcPts val="2800"/>
                  </a:lnSpc>
                </a:pPr>
                <a:endParaRPr>
                  <a:latin typeface="+mj-lt"/>
                </a:endParaRPr>
              </a:p>
            </p:txBody>
          </p:sp>
        </p:grpSp>
        <p:sp>
          <p:nvSpPr>
            <p:cNvPr id="4" name="Freeform 11">
              <a:extLst>
                <a:ext uri="{FF2B5EF4-FFF2-40B4-BE49-F238E27FC236}">
                  <a16:creationId xmlns:a16="http://schemas.microsoft.com/office/drawing/2014/main" id="{0A678453-9F23-C853-F5F4-7180F7E5C6CE}"/>
                </a:ext>
              </a:extLst>
            </p:cNvPr>
            <p:cNvSpPr/>
            <p:nvPr/>
          </p:nvSpPr>
          <p:spPr>
            <a:xfrm>
              <a:off x="1472" y="3420"/>
              <a:ext cx="1048" cy="1048"/>
            </a:xfrm>
            <a:custGeom>
              <a:avLst/>
              <a:gdLst/>
              <a:ahLst/>
              <a:cxnLst/>
              <a:rect l="l" t="t" r="r" b="b"/>
              <a:pathLst>
                <a:path w="665701" h="665701">
                  <a:moveTo>
                    <a:pt x="0" y="0"/>
                  </a:moveTo>
                  <a:lnTo>
                    <a:pt x="665701" y="0"/>
                  </a:lnTo>
                  <a:lnTo>
                    <a:pt x="665701" y="665700"/>
                  </a:lnTo>
                  <a:lnTo>
                    <a:pt x="0" y="6657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ltLang="en-US">
                <a:latin typeface="+mj-lt"/>
              </a:endParaRPr>
            </a:p>
          </p:txBody>
        </p:sp>
        <p:sp>
          <p:nvSpPr>
            <p:cNvPr id="5" name="TextBox 27">
              <a:extLst>
                <a:ext uri="{FF2B5EF4-FFF2-40B4-BE49-F238E27FC236}">
                  <a16:creationId xmlns:a16="http://schemas.microsoft.com/office/drawing/2014/main" id="{A1D76CE3-9DC0-3BFA-C6B6-473653DD0A58}"/>
                </a:ext>
              </a:extLst>
            </p:cNvPr>
            <p:cNvSpPr txBox="1"/>
            <p:nvPr/>
          </p:nvSpPr>
          <p:spPr>
            <a:xfrm>
              <a:off x="899" y="3633"/>
              <a:ext cx="8701" cy="640"/>
            </a:xfrm>
            <a:prstGeom prst="rect">
              <a:avLst/>
            </a:prstGeom>
          </p:spPr>
          <p:txBody>
            <a:bodyPr wrap="square" lIns="0" tIns="0" rIns="0" bIns="0" rtlCol="0" anchor="t">
              <a:spAutoFit/>
            </a:bodyPr>
            <a:lstStyle/>
            <a:p>
              <a:pPr algn="ctr">
                <a:lnSpc>
                  <a:spcPts val="3080"/>
                </a:lnSpc>
              </a:pPr>
              <a:r>
                <a:rPr lang="vi-VN" altLang="en-US" sz="32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Segoe Print" panose="02000600000000000000" charset="0"/>
                </a:rPr>
                <a:t>ACTIONS</a:t>
              </a:r>
            </a:p>
          </p:txBody>
        </p:sp>
      </p:grpSp>
    </p:spTree>
    <p:extLst>
      <p:ext uri="{BB962C8B-B14F-4D97-AF65-F5344CB8AC3E}">
        <p14:creationId xmlns:p14="http://schemas.microsoft.com/office/powerpoint/2010/main" val="269733443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714682" y="3159174"/>
            <a:ext cx="6858000" cy="1984326"/>
          </a:xfrm>
          <a:prstGeom prst="rect">
            <a:avLst/>
          </a:prstGeom>
        </p:spPr>
        <p:txBody>
          <a:bodyPr wrap="square" lIns="0" tIns="0" rIns="0" bIns="0" rtlCol="0" anchor="t">
            <a:spAutoFit/>
          </a:bodyPr>
          <a:lstStyle/>
          <a:p>
            <a:pPr algn="ctr">
              <a:lnSpc>
                <a:spcPts val="14660"/>
              </a:lnSpc>
            </a:pPr>
            <a:r>
              <a:rPr lang="en-US" sz="16850" b="1" dirty="0">
                <a:solidFill>
                  <a:srgbClr val="0E2F5F"/>
                </a:solidFill>
                <a:ea typeface="Barlow Condensed Heavy" panose="00000A06000000000000"/>
                <a:cs typeface="Barlow Condensed Heavy" panose="00000A06000000000000"/>
                <a:sym typeface="Barlow Condensed Heavy" panose="00000A06000000000000"/>
              </a:rPr>
              <a:t>THANK</a:t>
            </a:r>
          </a:p>
        </p:txBody>
      </p:sp>
      <p:grpSp>
        <p:nvGrpSpPr>
          <p:cNvPr id="3" name="Group 2"/>
          <p:cNvGrpSpPr/>
          <p:nvPr/>
        </p:nvGrpSpPr>
        <p:grpSpPr>
          <a:xfrm>
            <a:off x="3424555" y="-1072515"/>
            <a:ext cx="11438890" cy="3597275"/>
            <a:chOff x="5393" y="-1689"/>
            <a:chExt cx="18014" cy="5665"/>
          </a:xfrm>
        </p:grpSpPr>
        <p:grpSp>
          <p:nvGrpSpPr>
            <p:cNvPr id="8" name="Group 8"/>
            <p:cNvGrpSpPr/>
            <p:nvPr/>
          </p:nvGrpSpPr>
          <p:grpSpPr>
            <a:xfrm>
              <a:off x="5393" y="-1689"/>
              <a:ext cx="18014" cy="4472"/>
              <a:chOff x="0" y="0"/>
              <a:chExt cx="3012684" cy="747849"/>
            </a:xfrm>
          </p:grpSpPr>
          <p:sp>
            <p:nvSpPr>
              <p:cNvPr id="9" name="Freeform 9"/>
              <p:cNvSpPr/>
              <p:nvPr/>
            </p:nvSpPr>
            <p:spPr>
              <a:xfrm>
                <a:off x="0" y="0"/>
                <a:ext cx="3012684" cy="747849"/>
              </a:xfrm>
              <a:custGeom>
                <a:avLst/>
                <a:gdLst/>
                <a:ahLst/>
                <a:cxnLst/>
                <a:rect l="l" t="t" r="r" b="b"/>
                <a:pathLst>
                  <a:path w="3012684" h="747849">
                    <a:moveTo>
                      <a:pt x="39932" y="0"/>
                    </a:moveTo>
                    <a:lnTo>
                      <a:pt x="2972752" y="0"/>
                    </a:lnTo>
                    <a:cubicBezTo>
                      <a:pt x="2994806" y="0"/>
                      <a:pt x="3012684" y="17878"/>
                      <a:pt x="3012684" y="39932"/>
                    </a:cubicBezTo>
                    <a:lnTo>
                      <a:pt x="3012684" y="707917"/>
                    </a:lnTo>
                    <a:cubicBezTo>
                      <a:pt x="3012684" y="729971"/>
                      <a:pt x="2994806" y="747849"/>
                      <a:pt x="2972752" y="747849"/>
                    </a:cubicBezTo>
                    <a:lnTo>
                      <a:pt x="39932" y="747849"/>
                    </a:lnTo>
                    <a:cubicBezTo>
                      <a:pt x="17878" y="747849"/>
                      <a:pt x="0" y="729971"/>
                      <a:pt x="0" y="707917"/>
                    </a:cubicBezTo>
                    <a:lnTo>
                      <a:pt x="0" y="39932"/>
                    </a:lnTo>
                    <a:cubicBezTo>
                      <a:pt x="0" y="17878"/>
                      <a:pt x="17878" y="0"/>
                      <a:pt x="39932" y="0"/>
                    </a:cubicBezTo>
                    <a:close/>
                  </a:path>
                </a:pathLst>
              </a:custGeom>
              <a:solidFill>
                <a:srgbClr val="E1EDFC"/>
              </a:solidFill>
              <a:ln cap="rnd">
                <a:noFill/>
                <a:prstDash val="solid"/>
                <a:round/>
              </a:ln>
            </p:spPr>
            <p:txBody>
              <a:bodyPr/>
              <a:lstStyle/>
              <a:p>
                <a:endParaRPr lang="en-US"/>
              </a:p>
            </p:txBody>
          </p:sp>
          <p:sp>
            <p:nvSpPr>
              <p:cNvPr id="10" name="TextBox 10"/>
              <p:cNvSpPr txBox="1"/>
              <p:nvPr/>
            </p:nvSpPr>
            <p:spPr>
              <a:xfrm>
                <a:off x="0" y="-47625"/>
                <a:ext cx="3012684" cy="795474"/>
              </a:xfrm>
              <a:prstGeom prst="rect">
                <a:avLst/>
              </a:prstGeom>
            </p:spPr>
            <p:txBody>
              <a:bodyPr lIns="50800" tIns="50800" rIns="50800" bIns="50800" rtlCol="0" anchor="ctr"/>
              <a:lstStyle/>
              <a:p>
                <a:pPr marL="0" lvl="0" indent="0" algn="ctr">
                  <a:lnSpc>
                    <a:spcPts val="2800"/>
                  </a:lnSpc>
                  <a:spcBef>
                    <a:spcPct val="0"/>
                  </a:spcBef>
                </a:pPr>
                <a:endParaRPr/>
              </a:p>
            </p:txBody>
          </p:sp>
        </p:grpSp>
        <p:grpSp>
          <p:nvGrpSpPr>
            <p:cNvPr id="11" name="Group 11"/>
            <p:cNvGrpSpPr/>
            <p:nvPr/>
          </p:nvGrpSpPr>
          <p:grpSpPr>
            <a:xfrm>
              <a:off x="13221" y="1620"/>
              <a:ext cx="2357" cy="235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88CC"/>
              </a:solidFill>
            </p:spPr>
            <p:txBody>
              <a:bodyPr/>
              <a:lstStyle/>
              <a:p>
                <a:endParaRPr lang="en-US"/>
              </a:p>
            </p:txBody>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14" name="Freeform 14"/>
            <p:cNvSpPr/>
            <p:nvPr/>
          </p:nvSpPr>
          <p:spPr>
            <a:xfrm>
              <a:off x="13659" y="2280"/>
              <a:ext cx="1482" cy="1037"/>
            </a:xfrm>
            <a:custGeom>
              <a:avLst/>
              <a:gdLst/>
              <a:ahLst/>
              <a:cxnLst/>
              <a:rect l="l" t="t" r="r" b="b"/>
              <a:pathLst>
                <a:path w="940838" h="658587">
                  <a:moveTo>
                    <a:pt x="0" y="0"/>
                  </a:moveTo>
                  <a:lnTo>
                    <a:pt x="940838" y="0"/>
                  </a:lnTo>
                  <a:lnTo>
                    <a:pt x="940838" y="658587"/>
                  </a:lnTo>
                  <a:lnTo>
                    <a:pt x="0" y="65858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sp>
        <p:nvSpPr>
          <p:cNvPr id="15" name="Freeform 15"/>
          <p:cNvSpPr/>
          <p:nvPr/>
        </p:nvSpPr>
        <p:spPr>
          <a:xfrm>
            <a:off x="3424608" y="4750679"/>
            <a:ext cx="1519327" cy="469610"/>
          </a:xfrm>
          <a:custGeom>
            <a:avLst/>
            <a:gdLst/>
            <a:ahLst/>
            <a:cxnLst/>
            <a:rect l="l" t="t" r="r" b="b"/>
            <a:pathLst>
              <a:path w="1519327" h="469610">
                <a:moveTo>
                  <a:pt x="0" y="0"/>
                </a:moveTo>
                <a:lnTo>
                  <a:pt x="1519327" y="0"/>
                </a:lnTo>
                <a:lnTo>
                  <a:pt x="1519327" y="469610"/>
                </a:lnTo>
                <a:lnTo>
                  <a:pt x="0" y="46961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dirty="0"/>
          </a:p>
        </p:txBody>
      </p:sp>
      <p:sp>
        <p:nvSpPr>
          <p:cNvPr id="16" name="Freeform 16"/>
          <p:cNvSpPr/>
          <p:nvPr/>
        </p:nvSpPr>
        <p:spPr>
          <a:xfrm flipH="1">
            <a:off x="13492073" y="4750679"/>
            <a:ext cx="1519327" cy="469610"/>
          </a:xfrm>
          <a:custGeom>
            <a:avLst/>
            <a:gdLst/>
            <a:ahLst/>
            <a:cxnLst/>
            <a:rect l="l" t="t" r="r" b="b"/>
            <a:pathLst>
              <a:path w="1519327" h="469610">
                <a:moveTo>
                  <a:pt x="1519327" y="0"/>
                </a:moveTo>
                <a:lnTo>
                  <a:pt x="0" y="0"/>
                </a:lnTo>
                <a:lnTo>
                  <a:pt x="0" y="469610"/>
                </a:lnTo>
                <a:lnTo>
                  <a:pt x="1519327" y="469610"/>
                </a:lnTo>
                <a:lnTo>
                  <a:pt x="1519327"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17" name="Group 17"/>
          <p:cNvGrpSpPr/>
          <p:nvPr/>
        </p:nvGrpSpPr>
        <p:grpSpPr>
          <a:xfrm>
            <a:off x="0" y="8996715"/>
            <a:ext cx="18288000" cy="1290285"/>
            <a:chOff x="0" y="0"/>
            <a:chExt cx="4816593" cy="339828"/>
          </a:xfrm>
        </p:grpSpPr>
        <p:sp>
          <p:nvSpPr>
            <p:cNvPr id="18" name="Freeform 18"/>
            <p:cNvSpPr/>
            <p:nvPr/>
          </p:nvSpPr>
          <p:spPr>
            <a:xfrm>
              <a:off x="0" y="0"/>
              <a:ext cx="4816592" cy="339828"/>
            </a:xfrm>
            <a:custGeom>
              <a:avLst/>
              <a:gdLst/>
              <a:ahLst/>
              <a:cxnLst/>
              <a:rect l="l" t="t" r="r" b="b"/>
              <a:pathLst>
                <a:path w="4816592" h="339828">
                  <a:moveTo>
                    <a:pt x="0" y="0"/>
                  </a:moveTo>
                  <a:lnTo>
                    <a:pt x="4816592" y="0"/>
                  </a:lnTo>
                  <a:lnTo>
                    <a:pt x="4816592" y="339828"/>
                  </a:lnTo>
                  <a:lnTo>
                    <a:pt x="0" y="339828"/>
                  </a:lnTo>
                  <a:close/>
                </a:path>
              </a:pathLst>
            </a:custGeom>
            <a:solidFill>
              <a:srgbClr val="0E2F5F"/>
            </a:solidFill>
            <a:ln cap="sq">
              <a:noFill/>
              <a:prstDash val="solid"/>
              <a:miter/>
            </a:ln>
          </p:spPr>
          <p:txBody>
            <a:bodyPr/>
            <a:lstStyle/>
            <a:p>
              <a:endParaRPr lang="en-US"/>
            </a:p>
          </p:txBody>
        </p:sp>
        <p:sp>
          <p:nvSpPr>
            <p:cNvPr id="19" name="TextBox 19"/>
            <p:cNvSpPr txBox="1"/>
            <p:nvPr/>
          </p:nvSpPr>
          <p:spPr>
            <a:xfrm>
              <a:off x="0" y="-47625"/>
              <a:ext cx="4816593" cy="387453"/>
            </a:xfrm>
            <a:prstGeom prst="rect">
              <a:avLst/>
            </a:prstGeom>
          </p:spPr>
          <p:txBody>
            <a:bodyPr lIns="50800" tIns="50800" rIns="50800" bIns="50800" rtlCol="0" anchor="ctr"/>
            <a:lstStyle/>
            <a:p>
              <a:pPr marL="0" lvl="0" indent="0" algn="ctr">
                <a:lnSpc>
                  <a:spcPts val="2800"/>
                </a:lnSpc>
                <a:spcBef>
                  <a:spcPct val="0"/>
                </a:spcBef>
              </a:pPr>
              <a:endParaRPr/>
            </a:p>
          </p:txBody>
        </p:sp>
      </p:grpSp>
      <p:sp>
        <p:nvSpPr>
          <p:cNvPr id="4" name="TextBox 2"/>
          <p:cNvSpPr txBox="1"/>
          <p:nvPr/>
        </p:nvSpPr>
        <p:spPr>
          <a:xfrm>
            <a:off x="6743382" y="5319197"/>
            <a:ext cx="4800600" cy="1984326"/>
          </a:xfrm>
          <a:prstGeom prst="rect">
            <a:avLst/>
          </a:prstGeom>
        </p:spPr>
        <p:txBody>
          <a:bodyPr wrap="square" lIns="0" tIns="0" rIns="0" bIns="0" rtlCol="0" anchor="t">
            <a:spAutoFit/>
          </a:bodyPr>
          <a:lstStyle/>
          <a:p>
            <a:pPr algn="ctr">
              <a:lnSpc>
                <a:spcPts val="14660"/>
              </a:lnSpc>
            </a:pPr>
            <a:r>
              <a:rPr lang="en-US" sz="16850" b="1" dirty="0">
                <a:solidFill>
                  <a:srgbClr val="0E2F5F"/>
                </a:solidFill>
                <a:latin typeface="+mj-lt"/>
                <a:ea typeface="Barlow Condensed Heavy" panose="00000A06000000000000"/>
                <a:cs typeface="Barlow Condensed Heavy" panose="00000A06000000000000"/>
                <a:sym typeface="Barlow Condensed Heavy" panose="00000A06000000000000"/>
              </a:rPr>
              <a:t>YOU!</a:t>
            </a:r>
          </a:p>
        </p:txBody>
      </p:sp>
    </p:spTree>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1140.8517322834643}"/>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1140.8517322834643}"/>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1140.851732283464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1140.8517322834643}"/>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1140.8517322834643}"/>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1140.8517322834643}"/>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1140.851732283464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1140.8517322834643}"/>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1140.8517322834643}"/>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678.1,&quot;left&quot;:366,&quot;top&quot;:74.35,&quot;width&quot;:1140.851732283464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TotalTime>
  <Words>786</Words>
  <Application>Microsoft Office PowerPoint</Application>
  <PresentationFormat>Custom</PresentationFormat>
  <Paragraphs>88</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Barlow Condensed Heavy</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50</cp:revision>
  <dcterms:created xsi:type="dcterms:W3CDTF">2006-08-16T00:00:00Z</dcterms:created>
  <dcterms:modified xsi:type="dcterms:W3CDTF">2026-02-02T09:26:28Z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A283671894624C9E9AE23A21417B300D_12</vt:lpwstr>
  </property>
  <property fmtid="{D5CDD505-2E9C-101B-9397-08002B2CF9AE}" pid="3" name="KSOProductBuildVer">
    <vt:lpwstr>1033-12.2.0.23131</vt:lpwstr>
  </property>
</Properties>
</file>